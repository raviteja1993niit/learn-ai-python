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7315200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0D35"/>
                </a:solidFill>
              </a:rPr>
              <a:t>How to Develop Your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6400"/>
                </a:solidFill>
              </a:rPr>
              <a:t>Multi-Agentic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7315200" cy="54864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5420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0D35"/>
                </a:solidFill>
              </a:rPr>
              <a:t>Raviteja Thota (613491)  |  Senior Software Engineer  |  EPAM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62656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88"/>
                </a:solidFill>
              </a:rPr>
              <a:t>EngX AI Coach — Final Exam Presentation  | 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66160"/>
            <a:ext cx="3108960" cy="475488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566160"/>
            <a:ext cx="310896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639312"/>
            <a:ext cx="2907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Use Case 1  ·  Multi-Agentic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87952"/>
            <a:ext cx="3108960" cy="475488"/>
          </a:xfrm>
          <a:prstGeom prst="rect">
            <a:avLst/>
          </a:prstGeom>
          <a:solidFill>
            <a:srgbClr val="E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187952"/>
            <a:ext cx="3108960" cy="4572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61104"/>
            <a:ext cx="2907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Use Case 2  ·  RAG Evolution Journey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548640"/>
            <a:ext cx="3566160" cy="557784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1005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A6400"/>
                </a:solidFill>
              </a:rPr>
              <a:t>EngX AI Coach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1572768"/>
            <a:ext cx="3017520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719072"/>
            <a:ext cx="3154680" cy="4114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300" b="1">
                <a:solidFill>
                  <a:srgbClr val="0D0D35"/>
                </a:solidFill>
              </a:rPr>
              <a:t>Final Exam</a:t>
            </a:r>
          </a:p>
          <a:p>
            <a:r>
              <a:rPr sz="500" b="0">
                <a:solidFill>
                  <a:srgbClr val="0D0D35"/>
                </a:solidFill>
              </a:rPr>
              <a:t/>
            </a:r>
          </a:p>
          <a:p>
            <a:r>
              <a:rPr sz="1100" b="1">
                <a:solidFill>
                  <a:srgbClr val="0D0D35"/>
                </a:solidFill>
              </a:rPr>
              <a:t>Topic:</a:t>
            </a:r>
          </a:p>
          <a:p>
            <a:r>
              <a:rPr sz="1200" b="1">
                <a:solidFill>
                  <a:srgbClr val="0D0D35"/>
                </a:solidFill>
              </a:rPr>
              <a:t>Multi-Agentic Solution Design</a:t>
            </a:r>
          </a:p>
          <a:p>
            <a:r>
              <a:rPr sz="500" b="0">
                <a:solidFill>
                  <a:srgbClr val="0D0D35"/>
                </a:solidFill>
              </a:rPr>
              <a:t/>
            </a:r>
          </a:p>
          <a:p>
            <a:r>
              <a:rPr sz="1100" b="0">
                <a:solidFill>
                  <a:srgbClr val="0D0D35"/>
                </a:solidFill>
              </a:rPr>
              <a:t>2 Use Cases</a:t>
            </a:r>
          </a:p>
          <a:p>
            <a:r>
              <a:rPr sz="1100" b="0">
                <a:solidFill>
                  <a:srgbClr val="0D0D35"/>
                </a:solidFill>
              </a:rPr>
              <a:t>1. Multi-Agent System</a:t>
            </a:r>
          </a:p>
          <a:p>
            <a:r>
              <a:rPr sz="1100" b="0">
                <a:solidFill>
                  <a:srgbClr val="0D0D35"/>
                </a:solidFill>
              </a:rPr>
              <a:t>2. RAG Evolution</a:t>
            </a:r>
          </a:p>
          <a:p>
            <a:r>
              <a:rPr sz="500" b="0">
                <a:solidFill>
                  <a:srgbClr val="0D0D35"/>
                </a:solidFill>
              </a:rPr>
              <a:t/>
            </a:r>
          </a:p>
          <a:p>
            <a:r>
              <a:rPr sz="1100" b="0">
                <a:solidFill>
                  <a:srgbClr val="0D0D35"/>
                </a:solidFill>
              </a:rPr>
              <a:t>18 slides</a:t>
            </a:r>
          </a:p>
          <a:p>
            <a:r>
              <a:rPr sz="1100" b="0">
                <a:solidFill>
                  <a:srgbClr val="0D0D35"/>
                </a:solidFill>
              </a:rPr>
              <a:t>20-25 min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CC"/>
                </a:solidFill>
              </a:rPr>
              <a:t>EPAM Proprietary &amp; Confidential.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 |  EngX AI Coach — Final Exam Presentation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5637276" cy="539496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637276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22860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978408"/>
            <a:ext cx="2249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 Case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1005840"/>
            <a:ext cx="31866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Multi-Agentic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53995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01   What is a Multi-Agent System?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53995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02   Architecture Flow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53995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03   Agent Roles &amp; Responsibilities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53995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04   Code: Agent Definition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12080"/>
            <a:ext cx="53995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05   Real-World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3348" y="960120"/>
            <a:ext cx="5637276" cy="5394960"/>
          </a:xfrm>
          <a:prstGeom prst="rect">
            <a:avLst/>
          </a:prstGeom>
          <a:solidFill>
            <a:srgbClr val="E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3348" y="960120"/>
            <a:ext cx="5637276" cy="54864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3348" y="960120"/>
            <a:ext cx="2286000" cy="4572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1636" y="978408"/>
            <a:ext cx="2249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 Case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9076" y="1005840"/>
            <a:ext cx="31866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38F"/>
                </a:solidFill>
              </a:rPr>
              <a:t>RAG Evolution Journey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1554480"/>
            <a:ext cx="53995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38F"/>
                </a:solidFill>
              </a:rPr>
              <a:t>06   Why RAG Needed to Evolve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2468880"/>
            <a:ext cx="53995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07   RAG Evolution Flow  (V1 › V2 › V3)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6228" y="3383280"/>
            <a:ext cx="53995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08   Agentic RAG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6228" y="4297680"/>
            <a:ext cx="53995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09   Code Demo: ask.py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6228" y="5212080"/>
            <a:ext cx="53995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10   Comparison &amp; When to Use Each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0080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88"/>
                </a:solidFill>
              </a:rPr>
              <a:t>Practical Task  ·  Key Takeaways  · 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119329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11731752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256032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0976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Use Case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0D35"/>
                </a:solidFill>
              </a:rPr>
              <a:t>Multi-Agentic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249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88"/>
                </a:solidFill>
              </a:rPr>
              <a:t>Real-World Problem — Developers waste days manually tracking feature toggle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55264"/>
            <a:ext cx="36576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2"/>
            <a:ext cx="10972800" cy="2560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300" b="1">
                <a:solidFill>
                  <a:srgbClr val="0D0D35"/>
                </a:solidFill>
              </a:rPr>
              <a:t>Real-World Problem:</a:t>
            </a:r>
          </a:p>
          <a:p>
            <a:r>
              <a:rPr sz="1200" b="0">
                <a:solidFill>
                  <a:srgbClr val="222244"/>
                </a:solidFill>
              </a:rPr>
              <a:t>  &gt;  100+ feature toggles across 16,000+ Java files in 7 repos</a:t>
            </a:r>
          </a:p>
          <a:p>
            <a:r>
              <a:rPr sz="1200" b="0">
                <a:solidFill>
                  <a:srgbClr val="222244"/>
                </a:solidFill>
              </a:rPr>
              <a:t>  &gt;  Devs manually grep code, check stale Confluence, write impact notes — days per toggle</a:t>
            </a:r>
          </a:p>
          <a:p>
            <a:r>
              <a:rPr sz="1200" b="0">
                <a:solidFill>
                  <a:srgbClr val="222244"/>
                </a:solidFill>
              </a:rPr>
              <a:t>  &gt;  No automated way to answer: "What breaks if I flip this toggle OFF in production?"</a:t>
            </a:r>
          </a:p>
          <a:p>
            <a:r>
              <a:rPr sz="1200" b="0">
                <a:solidFill>
                  <a:srgbClr val="222244"/>
                </a:solidFill>
              </a:rPr>
              <a:t>  &gt;  Multi-agent system solves this end-to-end in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CC"/>
                </a:solidFill>
              </a:rPr>
              <a:t>EPAM Proprietary &amp; Confidential.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Real-World Problem: Feature Toggle Chaos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Managing 100+ toggles across 16K+ Java files — manually — every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 |  EngX AI Coach — Final Exam Presentation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394960" cy="5440680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39496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042415"/>
            <a:ext cx="51937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The Developer's Daily Struggle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5193792" cy="4663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00" b="1">
                <a:solidFill>
                  <a:srgbClr val="0D0D35"/>
                </a:solidFill>
              </a:rPr>
              <a:t>A developer is asked: "Is toggle MPGS_3DS_V2 safe to remove?"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C62828"/>
                </a:solidFill>
              </a:rPr>
              <a:t>Step 1 — Manual code hunt</a:t>
            </a:r>
          </a:p>
          <a:p>
            <a:r>
              <a:rPr sz="1100" b="0">
                <a:solidFill>
                  <a:srgbClr val="222244"/>
                </a:solidFill>
              </a:rPr>
              <a:t>  Grep 16K+ Java files across 7 repos. Miss one → production incident.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C62828"/>
                </a:solidFill>
              </a:rPr>
              <a:t>Step 2 — Stale documentation</a:t>
            </a:r>
          </a:p>
          <a:p>
            <a:r>
              <a:rPr sz="1100" b="0">
                <a:solidFill>
                  <a:srgbClr val="222244"/>
                </a:solidFill>
              </a:rPr>
              <a:t>  Confluence pages are outdated. BA notes contradict codebase reality.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C62828"/>
                </a:solidFill>
              </a:rPr>
              <a:t>Step 3 — Hand-written impact report</a:t>
            </a:r>
          </a:p>
          <a:p>
            <a:r>
              <a:rPr sz="1100" b="0">
                <a:solidFill>
                  <a:srgbClr val="222244"/>
                </a:solidFill>
              </a:rPr>
              <a:t>  Engineer writes a Word doc. No standard format. Takes 2–3 days.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C62828"/>
                </a:solidFill>
              </a:rPr>
              <a:t>Step 4 — Review cycle</a:t>
            </a:r>
          </a:p>
          <a:p>
            <a:r>
              <a:rPr sz="1100" b="0">
                <a:solidFill>
                  <a:srgbClr val="222244"/>
                </a:solidFill>
              </a:rPr>
              <a:t>  Back-and-forth with BA and QA to validate. Error-prone each time.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C62828"/>
                </a:solidFill>
              </a:rPr>
              <a:t>Result</a:t>
            </a:r>
          </a:p>
          <a:p>
            <a:r>
              <a:rPr sz="1100" b="0">
                <a:solidFill>
                  <a:srgbClr val="222244"/>
                </a:solidFill>
              </a:rPr>
              <a:t>  Days of effort per toggle. Inconsistent. Impossible to scale.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960120"/>
            <a:ext cx="5394960" cy="5440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960120"/>
            <a:ext cx="539496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1042415"/>
            <a:ext cx="51937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What the System Must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517904"/>
            <a:ext cx="5193792" cy="4663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00" b="1">
                <a:solidFill>
                  <a:srgbClr val="0D0D35"/>
                </a:solidFill>
              </a:rPr>
              <a:t>User types: "analyse toggle MPGS_3DS_V2"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2E7D32"/>
                </a:solidFill>
              </a:rPr>
              <a:t>Scan all repos</a:t>
            </a:r>
          </a:p>
          <a:p>
            <a:r>
              <a:rPr sz="1100" b="0">
                <a:solidFill>
                  <a:srgbClr val="222244"/>
                </a:solidFill>
              </a:rPr>
              <a:t>  Find every ON/OFF branch, impacted service and field automatically.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2E7D32"/>
                </a:solidFill>
              </a:rPr>
              <a:t>Fetch live Confluence docs</a:t>
            </a:r>
          </a:p>
          <a:p>
            <a:r>
              <a:rPr sz="1100" b="0">
                <a:solidFill>
                  <a:srgbClr val="222244"/>
                </a:solidFill>
              </a:rPr>
              <a:t>  Always current. No stale pages. Metadata extracted per toggle.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2E7D32"/>
                </a:solidFill>
              </a:rPr>
              <a:t>Generate structured report</a:t>
            </a:r>
          </a:p>
          <a:p>
            <a:r>
              <a:rPr sz="1100" b="0">
                <a:solidFill>
                  <a:srgbClr val="222244"/>
                </a:solidFill>
              </a:rPr>
              <a:t>  CSV + Markdown in minutes. Reproducible across the team.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2E7D32"/>
                </a:solidFill>
              </a:rPr>
              <a:t>Advise on safe removal</a:t>
            </a:r>
          </a:p>
          <a:p>
            <a:r>
              <a:rPr sz="1100" b="0">
                <a:solidFill>
                  <a:srgbClr val="222244"/>
                </a:solidFill>
              </a:rPr>
              <a:t>  Decomposition plan. Refactored Java. Zero manual effort.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2E7D32"/>
                </a:solidFill>
              </a:rPr>
              <a:t>Outcome</a:t>
            </a:r>
          </a:p>
          <a:p>
            <a:r>
              <a:rPr sz="1100" b="0">
                <a:solidFill>
                  <a:srgbClr val="222244"/>
                </a:solidFill>
              </a:rPr>
              <a:t>  Minutes per toggle. Consistent. Scalable to 1000+ toggles.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22976" y="3438144"/>
            <a:ext cx="111556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A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3474720"/>
            <a:ext cx="10789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A6400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Agent Roles &amp;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Each agent owns exactly one domain — clear input/output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 |  EngX AI Coach — Final Exam Presentation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5577840" cy="5577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00" b="1">
                <a:solidFill>
                  <a:srgbClr val="FA6400"/>
                </a:solidFill>
              </a:rPr>
              <a:t>toggle-orchestrator</a:t>
            </a:r>
          </a:p>
          <a:p>
            <a:r>
              <a:rPr sz="1100" b="0">
                <a:solidFill>
                  <a:srgbClr val="222244"/>
                </a:solidFill>
              </a:rPr>
              <a:t>  Session entry point. Routes all commands. NEVER does leaf work.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FA6400"/>
                </a:solidFill>
              </a:rPr>
              <a:t>SA-1  analysis-engine</a:t>
            </a:r>
          </a:p>
          <a:p>
            <a:r>
              <a:rPr sz="1100" b="0">
                <a:solidFill>
                  <a:srgbClr val="222244"/>
                </a:solidFill>
              </a:rPr>
              <a:t>  Java source scan across 7 repos. Builds ON/OFF business &amp; field-level impact.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FA6400"/>
                </a:solidFill>
              </a:rPr>
              <a:t>SA-2  report-writer</a:t>
            </a:r>
          </a:p>
          <a:p>
            <a:r>
              <a:rPr sz="1100" b="0">
                <a:solidFill>
                  <a:srgbClr val="222244"/>
                </a:solidFill>
              </a:rPr>
              <a:t>  Generates 6 structured report types from analysis data.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960120"/>
            <a:ext cx="27432" cy="557784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5577840" cy="5577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00" b="1">
                <a:solidFill>
                  <a:srgbClr val="FA6400"/>
                </a:solidFill>
              </a:rPr>
              <a:t>SA-3  confluence-enquiry</a:t>
            </a:r>
          </a:p>
          <a:p>
            <a:r>
              <a:rPr sz="1100" b="0">
                <a:solidFill>
                  <a:srgbClr val="222244"/>
                </a:solidFill>
              </a:rPr>
              <a:t>  4-tier Confluence search. Extracts page metadata for each toggle.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FA6400"/>
                </a:solidFill>
              </a:rPr>
              <a:t>SA-4  advisor  ★</a:t>
            </a:r>
          </a:p>
          <a:p>
            <a:r>
              <a:rPr sz="1100" b="0">
                <a:solidFill>
                  <a:srgbClr val="222244"/>
                </a:solidFill>
              </a:rPr>
              <a:t>  Plans &amp; executes Java toggle decomposition (on-request only).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  <a:p>
            <a:r>
              <a:rPr sz="1200" b="1">
                <a:solidFill>
                  <a:srgbClr val="FA6400"/>
                </a:solidFill>
              </a:rPr>
              <a:t>SA-5  workspace-manager</a:t>
            </a:r>
          </a:p>
          <a:p>
            <a:r>
              <a:rPr sz="1100" b="0">
                <a:solidFill>
                  <a:srgbClr val="222244"/>
                </a:solidFill>
              </a:rPr>
              <a:t>  Session state, toggle registry, workspace cleanup, repo onboarding.</a:t>
            </a:r>
          </a:p>
          <a:p>
            <a:r>
              <a:rPr sz="400" b="0">
                <a:solidFill>
                  <a:srgbClr val="0D0D35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Results: What the System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MPGS Payment Gateway — production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 |  EngX AI Coach — Final Exam Presentation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2218334" cy="100584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87552"/>
            <a:ext cx="2218334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60704"/>
            <a:ext cx="221833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A6400"/>
                </a:solidFill>
              </a:rPr>
              <a:t>100+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09344"/>
            <a:ext cx="221833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88"/>
                </a:solidFill>
              </a:rPr>
              <a:t>Feature Toggles Tracked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9814" y="987552"/>
            <a:ext cx="2218334" cy="100584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29814" y="987552"/>
            <a:ext cx="2218334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9814" y="1060704"/>
            <a:ext cx="221833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A6400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9814" y="1609344"/>
            <a:ext cx="221833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88"/>
                </a:solidFill>
              </a:rPr>
              <a:t>Repos Scanned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9588" y="987552"/>
            <a:ext cx="2218334" cy="100584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9588" y="987552"/>
            <a:ext cx="2218334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9588" y="1060704"/>
            <a:ext cx="221833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A6400"/>
                </a:solidFill>
              </a:rPr>
              <a:t>16K+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9588" y="1609344"/>
            <a:ext cx="221833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88"/>
                </a:solidFill>
              </a:rPr>
              <a:t>Java Files Analysed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49363" y="987552"/>
            <a:ext cx="2218334" cy="100584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49363" y="987552"/>
            <a:ext cx="2218334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49363" y="1060704"/>
            <a:ext cx="221833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A6400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9363" y="1609344"/>
            <a:ext cx="221833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88"/>
                </a:solidFill>
              </a:rPr>
              <a:t>Report Types Generated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9137" y="987552"/>
            <a:ext cx="2218334" cy="100584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59137" y="987552"/>
            <a:ext cx="2218334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9137" y="1060704"/>
            <a:ext cx="221833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A6400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9137" y="1609344"/>
            <a:ext cx="221833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88"/>
                </a:solidFill>
              </a:rPr>
              <a:t>Specialist Sub-Agents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148840"/>
            <a:ext cx="5486400" cy="4251960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148840"/>
            <a:ext cx="54864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2219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Before  (Manual)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624328"/>
            <a:ext cx="5212080" cy="3657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222244"/>
                </a:solidFill>
              </a:rPr>
              <a:t>Engineer reads Java files manually</a:t>
            </a:r>
          </a:p>
          <a:p>
            <a:r>
              <a:rPr sz="1100" b="0">
                <a:solidFill>
                  <a:srgbClr val="222244"/>
                </a:solidFill>
              </a:rPr>
              <a:t>Checks Confluence (often stale)</a:t>
            </a:r>
          </a:p>
          <a:p>
            <a:r>
              <a:rPr sz="1100" b="0">
                <a:solidFill>
                  <a:srgbClr val="222244"/>
                </a:solidFill>
              </a:rPr>
              <a:t>Writes impact notes by hand</a:t>
            </a:r>
          </a:p>
          <a:p>
            <a:r>
              <a:rPr sz="1100" b="0">
                <a:solidFill>
                  <a:srgbClr val="222244"/>
                </a:solidFill>
              </a:rPr>
              <a:t>Days per toggle  ·  Error-prone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148840"/>
            <a:ext cx="5486400" cy="4251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148840"/>
            <a:ext cx="54864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2219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After  (Multi-Agent System)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624328"/>
            <a:ext cx="5212080" cy="3657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222244"/>
                </a:solidFill>
              </a:rPr>
              <a:t>User types:  "analyze toggle &lt;name&gt;"</a:t>
            </a:r>
          </a:p>
          <a:p>
            <a:r>
              <a:rPr sz="1100" b="0">
                <a:solidFill>
                  <a:srgbClr val="222244"/>
                </a:solidFill>
              </a:rPr>
              <a:t>Orchestrator routes to SA-1 (analysis)</a:t>
            </a:r>
          </a:p>
          <a:p>
            <a:r>
              <a:rPr sz="1100" b="0">
                <a:solidFill>
                  <a:srgbClr val="222244"/>
                </a:solidFill>
              </a:rPr>
              <a:t>SA-1 scans repos  ·  SA-3 fetches docs</a:t>
            </a:r>
          </a:p>
          <a:p>
            <a:r>
              <a:rPr sz="1100" b="0">
                <a:solidFill>
                  <a:srgbClr val="222244"/>
                </a:solidFill>
              </a:rPr>
              <a:t>Minutes per toggle  ·  Reproducible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3560" y="3867912"/>
            <a:ext cx="749808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A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41848" y="3904487"/>
            <a:ext cx="713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119329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11731752" cy="54864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2560320" cy="56692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0976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Use Case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0D35"/>
                </a:solidFill>
              </a:rPr>
              <a:t>RAG Evolution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249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88"/>
                </a:solidFill>
              </a:rPr>
              <a:t>Real-World Problem — BAs can't track changes in versioned external acquirer specs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55264"/>
            <a:ext cx="3657600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2"/>
            <a:ext cx="10972800" cy="2560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300" b="1">
                <a:solidFill>
                  <a:srgbClr val="0D0D35"/>
                </a:solidFill>
              </a:rPr>
              <a:t>Real-World Problem:</a:t>
            </a:r>
          </a:p>
          <a:p>
            <a:r>
              <a:rPr sz="1200" b="0">
                <a:solidFill>
                  <a:srgbClr val="222244"/>
                </a:solidFill>
              </a:rPr>
              <a:t>  &gt;  Acquirer specs (Visa, Mastercard, bank APIs) are 200+ page PDFs updated quarterly</a:t>
            </a:r>
          </a:p>
          <a:p>
            <a:r>
              <a:rPr sz="1200" b="0">
                <a:solidFill>
                  <a:srgbClr val="222244"/>
                </a:solidFill>
              </a:rPr>
              <a:t>  &gt;  BAs manually diff v2.3 vs v2.4 — hours of reading to find what changed</a:t>
            </a:r>
          </a:p>
          <a:p>
            <a:r>
              <a:rPr sz="1200" b="0">
                <a:solidFill>
                  <a:srgbClr val="222244"/>
                </a:solidFill>
              </a:rPr>
              <a:t>  &gt;  No unified way to query: "What changed in Section 4 between versions?"</a:t>
            </a:r>
          </a:p>
          <a:p>
            <a:r>
              <a:rPr sz="1200" b="0">
                <a:solidFill>
                  <a:srgbClr val="222244"/>
                </a:solidFill>
              </a:rPr>
              <a:t>  &gt;  RAG evolution (V1 → V2 → V3) solves this — ending with LLM-as-retriever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CC"/>
                </a:solidFill>
              </a:rPr>
              <a:t>EPAM Proprietary &amp; Confidential.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Real-World Problem: Acquirer Spec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BAs drowning in versioned third-party spec documents — no smart search, no diff, no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 |  EngX AI Coach — Final Exam Presentation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3788664" cy="292608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87552"/>
            <a:ext cx="3788664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79" y="1060704"/>
            <a:ext cx="658368" cy="329184"/>
          </a:xfrm>
          <a:prstGeom prst="round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06984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Pain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1060704"/>
            <a:ext cx="2855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Version Diff Is 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463040"/>
            <a:ext cx="3605784" cy="2377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0">
                <a:solidFill>
                  <a:srgbClr val="222244"/>
                </a:solidFill>
              </a:rPr>
              <a:t>BA must open two 200-page PDFs side-by-side.</a:t>
            </a:r>
          </a:p>
          <a:p>
            <a:r>
              <a:rPr sz="1000" b="0">
                <a:solidFill>
                  <a:srgbClr val="222244"/>
                </a:solidFill>
              </a:rPr>
              <a:t>No tooling to highlight what changed between v2.3 and v2.4.</a:t>
            </a:r>
          </a:p>
          <a:p>
            <a:r>
              <a:rPr sz="1000" b="0">
                <a:solidFill>
                  <a:srgbClr val="222244"/>
                </a:solidFill>
              </a:rPr>
              <a:t>Barrier: misses critical field-level changes every release.</a:t>
            </a:r>
          </a:p>
          <a:p>
            <a:r>
              <a:rPr sz="1000" b="0">
                <a:solidFill>
                  <a:srgbClr val="222244"/>
                </a:solidFill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245864" y="987552"/>
            <a:ext cx="3788664" cy="292608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5864" y="987552"/>
            <a:ext cx="3788664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37304" y="1060704"/>
            <a:ext cx="658368" cy="329184"/>
          </a:xfrm>
          <a:prstGeom prst="round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7304" y="106984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Pain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7112" y="1060704"/>
            <a:ext cx="2855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Multi-Acquirer Fragmentation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7304" y="1463040"/>
            <a:ext cx="3605784" cy="2377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0">
                <a:solidFill>
                  <a:srgbClr val="222244"/>
                </a:solidFill>
              </a:rPr>
              <a:t>Visa, Mastercard, and local bank specs use different formats.</a:t>
            </a:r>
          </a:p>
          <a:p>
            <a:r>
              <a:rPr sz="1000" b="0">
                <a:solidFill>
                  <a:srgbClr val="222244"/>
                </a:solidFill>
              </a:rPr>
              <a:t>BAs switch between 5+ documents with no unified search layer.</a:t>
            </a:r>
          </a:p>
          <a:p>
            <a:r>
              <a:rPr sz="1000" b="0">
                <a:solidFill>
                  <a:srgbClr val="222244"/>
                </a:solidFill>
              </a:rPr>
              <a:t>Barrier: slow, error-prone cross-spec comparisons.</a:t>
            </a:r>
          </a:p>
          <a:p>
            <a:r>
              <a:rPr sz="1000" b="0">
                <a:solidFill>
                  <a:srgbClr val="222244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171688" y="987552"/>
            <a:ext cx="3788664" cy="292608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1688" y="987552"/>
            <a:ext cx="3788664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63128" y="1060704"/>
            <a:ext cx="658368" cy="329184"/>
          </a:xfrm>
          <a:prstGeom prst="round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3128" y="106984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Pain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2936" y="1060704"/>
            <a:ext cx="2855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No Natural Language Q&amp;A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3128" y="1463040"/>
            <a:ext cx="3605784" cy="2377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0">
                <a:solidFill>
                  <a:srgbClr val="222244"/>
                </a:solidFill>
              </a:rPr>
              <a:t>BAs can't ask: "What are the retry rules for declined transactions?"</a:t>
            </a:r>
          </a:p>
          <a:p>
            <a:r>
              <a:rPr sz="1000" b="0">
                <a:solidFill>
                  <a:srgbClr val="222244"/>
                </a:solidFill>
              </a:rPr>
              <a:t>Must CTRL+F keywords and read surrounding context manually.</a:t>
            </a:r>
          </a:p>
          <a:p>
            <a:r>
              <a:rPr sz="1000" b="0">
                <a:solidFill>
                  <a:srgbClr val="222244"/>
                </a:solidFill>
              </a:rPr>
              <a:t>Barrier: no intelligent extraction from spec documents.</a:t>
            </a:r>
          </a:p>
          <a:p>
            <a:r>
              <a:rPr sz="1000" b="0">
                <a:solidFill>
                  <a:srgbClr val="222244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11480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35"/>
                </a:solidFill>
              </a:rPr>
              <a:t>How each generation solved these pains: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407408"/>
            <a:ext cx="3788664" cy="1417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407408"/>
            <a:ext cx="378866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462272"/>
            <a:ext cx="3605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6400"/>
                </a:solidFill>
              </a:rPr>
              <a:t>V1 › 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773168"/>
            <a:ext cx="3605784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900" b="0">
                <a:solidFill>
                  <a:srgbClr val="222244"/>
                </a:solidFill>
              </a:rPr>
              <a:t>Dropped ChromaDB + embeddings entirely.</a:t>
            </a:r>
          </a:p>
          <a:p>
            <a:r>
              <a:rPr sz="900" b="0">
                <a:solidFill>
                  <a:srgbClr val="222244"/>
                </a:solidFill>
              </a:rPr>
              <a:t>BM25 keyword search over acquirer spec pages — zero infra cost.</a:t>
            </a:r>
          </a:p>
          <a:p>
            <a:r>
              <a:rPr sz="900" b="0">
                <a:solidFill>
                  <a:srgbClr val="222244"/>
                </a:solidFill>
              </a:rPr>
              <a:t>BAs can now search any versioned spec without GPU or vector DB setup.</a:t>
            </a:r>
          </a:p>
          <a:p>
            <a:r>
              <a:rPr sz="900" b="0">
                <a:solidFill>
                  <a:srgbClr val="222244"/>
                </a:solidFill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245864" y="4407408"/>
            <a:ext cx="3788664" cy="1417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45864" y="4407408"/>
            <a:ext cx="378866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7304" y="4462272"/>
            <a:ext cx="3605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6400"/>
                </a:solidFill>
              </a:rPr>
              <a:t>V2 › V3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7304" y="4773168"/>
            <a:ext cx="3605784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900" b="0">
                <a:solidFill>
                  <a:srgbClr val="222244"/>
                </a:solidFill>
              </a:rPr>
              <a:t>Dropped BM25 + all retrieval code.</a:t>
            </a:r>
          </a:p>
          <a:p>
            <a:r>
              <a:rPr sz="900" b="0">
                <a:solidFill>
                  <a:srgbClr val="222244"/>
                </a:solidFill>
              </a:rPr>
              <a:t>LLM reads full acquirer spec as JSON — section-aware, version-aware answers.</a:t>
            </a:r>
          </a:p>
          <a:p>
            <a:r>
              <a:rPr sz="900" b="0">
                <a:solidFill>
                  <a:srgbClr val="222244"/>
                </a:solidFill>
              </a:rPr>
              <a:t>BAs ask "What changed in Auth flow from v2.3 to v2.4?" and get a direct answer.</a:t>
            </a:r>
          </a:p>
          <a:p>
            <a:r>
              <a:rPr sz="900" b="0">
                <a:solidFill>
                  <a:srgbClr val="222244"/>
                </a:solidFill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8171688" y="4407408"/>
            <a:ext cx="3788664" cy="1417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71688" y="4407408"/>
            <a:ext cx="378866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3128" y="4462272"/>
            <a:ext cx="3605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6400"/>
                </a:solidFill>
              </a:rPr>
              <a:t>V3 + Agents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8" y="4773168"/>
            <a:ext cx="3605784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900" b="0">
                <a:solidFill>
                  <a:srgbClr val="222244"/>
                </a:solidFill>
              </a:rPr>
              <a:t>Added .github/agents for multi-turn Q&amp;A on versioned specs.</a:t>
            </a:r>
          </a:p>
          <a:p>
            <a:r>
              <a:rPr sz="900" b="0">
                <a:solidFill>
                  <a:srgbClr val="222244"/>
                </a:solidFill>
              </a:rPr>
              <a:t>Orchestrate: convert → ask → summarise → diff across acquirer versions.</a:t>
            </a:r>
          </a:p>
          <a:p>
            <a:r>
              <a:rPr sz="900" b="0">
                <a:solidFill>
                  <a:srgbClr val="222244"/>
                </a:solidFill>
              </a:rPr>
              <a:t>BA gets a structured change report in minutes instead of days.</a:t>
            </a:r>
          </a:p>
          <a:p>
            <a:r>
              <a:rPr sz="900" b="0">
                <a:solidFill>
                  <a:srgbClr val="222244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Comparison: V1 vs V2 vs V3 — When to Use Which?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 |  EngX AI Coach — Final Exam Presentation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2850642" cy="583183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60704"/>
            <a:ext cx="2704338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7258" y="100584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0410" y="1060704"/>
            <a:ext cx="2704338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35"/>
                </a:solidFill>
              </a:rPr>
              <a:t>V1 — Vector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6" y="100584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7628" y="1060704"/>
            <a:ext cx="2704338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35"/>
                </a:solidFill>
              </a:rPr>
              <a:t>V2 — Vector-less 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81694" y="100584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4846" y="1060704"/>
            <a:ext cx="2704338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35"/>
                </a:solidFill>
              </a:rPr>
              <a:t>V3 — Agentic 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2560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166217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35"/>
                </a:solidFill>
              </a:rPr>
              <a:t>Setup complexity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7258" y="1625600"/>
            <a:ext cx="2850642" cy="583183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0410" y="166217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High — ChromaDB, GPU,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162560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7628" y="166217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Low — BM25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81694" y="162560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4846" y="166217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Very low — 3 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245360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228193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35"/>
                </a:solidFill>
              </a:rPr>
              <a:t>Infrastructure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7258" y="2245360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0410" y="228193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Vector DB + GPU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2245360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7628" y="228193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None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81694" y="2245360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4846" y="228193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None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86512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290169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35"/>
                </a:solidFill>
              </a:rPr>
              <a:t>Semantic search quality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7258" y="286512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80410" y="290169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Best (embeddings)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4476" y="286512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7628" y="290169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Partial (keyword)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81694" y="286512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4846" y="290169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Best (LLM reasoning)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484880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352145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35"/>
                </a:solidFill>
              </a:rPr>
              <a:t>Large docs (&gt;100 pages)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7258" y="3484880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80410" y="352145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Best — chunked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4476" y="3484880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7628" y="352145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Good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81694" y="3484880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4846" y="352145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Limited by context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10464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" y="414121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35"/>
                </a:solidFill>
              </a:rPr>
              <a:t>Small–medium docs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7258" y="410464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80410" y="414121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Overkill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4476" y="4104640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7628" y="414121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Good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81694" y="4104640"/>
            <a:ext cx="2850642" cy="583183"/>
          </a:xfrm>
          <a:prstGeom prst="rect">
            <a:avLst/>
          </a:prstGeom>
          <a:solidFill>
            <a:srgbClr val="E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4846" y="414121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Best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724399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4760975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35"/>
                </a:solidFill>
              </a:rPr>
              <a:t>Code to maintain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7258" y="4724399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80410" y="4760975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Chunker+Embedder+DB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4476" y="4724399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67628" y="4760975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Retriever+Index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81694" y="4724399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54846" y="4760975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Zero retrieval code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5344159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" y="5380735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35"/>
                </a:solidFill>
              </a:rPr>
              <a:t>Multi-turn agent support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7258" y="5344159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80410" y="5380735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Manual wiring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94476" y="5344159"/>
            <a:ext cx="2850642" cy="583183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67628" y="5380735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Manual wiring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81694" y="5344159"/>
            <a:ext cx="2850642" cy="583183"/>
          </a:xfrm>
          <a:prstGeom prst="rect">
            <a:avLst/>
          </a:prstGeom>
          <a:solidFill>
            <a:srgbClr val="E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54846" y="5380735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Built-in via agents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963920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" y="600049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35"/>
                </a:solidFill>
              </a:rPr>
              <a:t>Best for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7258" y="5963920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80410" y="600049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Enterprise, large corpus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94476" y="5963920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67628" y="600049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Mid-size, fast POC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1694" y="5963920"/>
            <a:ext cx="2850642" cy="583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54846" y="6000496"/>
            <a:ext cx="2704338" cy="54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Structured docs, RAG POC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 |  EngX AI Coach — Final Exam Presentation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11521440" cy="853439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1521440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1060704"/>
            <a:ext cx="502920" cy="743711"/>
          </a:xfrm>
          <a:prstGeom prst="round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060704"/>
            <a:ext cx="502920" cy="743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267968"/>
            <a:ext cx="10698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Multi-Agent = Orchestrator + Specialists — separation of concerns at the agent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14144"/>
            <a:ext cx="11521440" cy="853439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914144"/>
            <a:ext cx="11521440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969008"/>
            <a:ext cx="502920" cy="743711"/>
          </a:xfrm>
          <a:prstGeom prst="round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969008"/>
            <a:ext cx="502920" cy="743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176272"/>
            <a:ext cx="10698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GitHub Copilot Agents (.github/agents) is a real, production-ready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22448"/>
            <a:ext cx="11521440" cy="853439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22448"/>
            <a:ext cx="11521440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048" y="2877312"/>
            <a:ext cx="502920" cy="743711"/>
          </a:xfrm>
          <a:prstGeom prst="round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877312"/>
            <a:ext cx="502920" cy="743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084575"/>
            <a:ext cx="10698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Choose multi-agent when tasks naturally decompose into parallel specialist 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30752"/>
            <a:ext cx="11521440" cy="853439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730752"/>
            <a:ext cx="11521440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4048" y="3785615"/>
            <a:ext cx="502920" cy="743711"/>
          </a:xfrm>
          <a:prstGeom prst="round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785615"/>
            <a:ext cx="502920" cy="743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3992880"/>
            <a:ext cx="10698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RAG evolved to remove complexity — V3 Agentic RAG needs zero retrieval code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639055"/>
            <a:ext cx="11521440" cy="853439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639055"/>
            <a:ext cx="11521440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4048" y="4693919"/>
            <a:ext cx="502920" cy="743711"/>
          </a:xfrm>
          <a:prstGeom prst="round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4693919"/>
            <a:ext cx="502920" cy="743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4901183"/>
            <a:ext cx="10698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Agentic RAG is best for structured docs (acquirer specs, API refs, versioned PDFs)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547360"/>
            <a:ext cx="11521440" cy="853439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547360"/>
            <a:ext cx="11521440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4048" y="5602223"/>
            <a:ext cx="502920" cy="743711"/>
          </a:xfrm>
          <a:prstGeom prst="round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5602223"/>
            <a:ext cx="502920" cy="743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" y="5809488"/>
            <a:ext cx="10698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Both use cases share the same principle: LLM-as-orchestrator + specialists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011680"/>
            <a:ext cx="7315200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D0D35"/>
                </a:solidFill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57984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66688"/>
                </a:solidFill>
              </a:rPr>
              <a:t>Questions &amp; Discussion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0D35"/>
                </a:solidFill>
              </a:rPr>
              <a:t>Raviteja Thota (613491)  |  Senior Software Engineer  |  EPAM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5526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88"/>
                </a:solidFill>
              </a:rPr>
              <a:t>EngX AI Coach — Final Exam Presentation  | 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840480"/>
            <a:ext cx="7315200" cy="402336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840480"/>
            <a:ext cx="7315200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895344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44"/>
                </a:solidFill>
              </a:rPr>
              <a:t>Use Case 1 — Multi-Agentic Solution (MPGS Feature Toggle Management)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15968"/>
            <a:ext cx="7315200" cy="402336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315968"/>
            <a:ext cx="7315200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370832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44"/>
                </a:solidFill>
              </a:rPr>
              <a:t>Use Case 2 — RAG Evolution Journey (Acquirer Spec Intelligence)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88"/>
                </a:solidFill>
              </a:rPr>
              <a:t>OrgEngXSoftwareDevelopersCoach@epam.com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CC"/>
                </a:solidFill>
              </a:rPr>
              <a:t>EPAM Proprietary &amp; Confidential.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