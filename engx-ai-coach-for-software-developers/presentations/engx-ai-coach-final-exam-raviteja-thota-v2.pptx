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46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7315200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0D35"/>
                </a:solidFill>
              </a:rPr>
              <a:t>How to Develop Your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6400"/>
                </a:solidFill>
              </a:rPr>
              <a:t>Multi-Agentic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7315200" cy="54864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4203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0D0D35"/>
                </a:solidFill>
              </a:rPr>
              <a:t>Raviteja Thota </a:t>
            </a:r>
            <a:r>
              <a:rPr lang="en-US" sz="1400" dirty="0">
                <a:solidFill>
                  <a:srgbClr val="0D0D35"/>
                </a:solidFill>
              </a:rPr>
              <a:t>(613491)</a:t>
            </a:r>
            <a:r>
              <a:rPr sz="1400" b="0" i="0" dirty="0">
                <a:solidFill>
                  <a:srgbClr val="0D0D35"/>
                </a:solidFill>
              </a:rPr>
              <a:t> |  Senior Software Engineer  |  EPAM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62656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88"/>
                </a:solidFill>
              </a:rPr>
              <a:t>EngX AI Coach — Final Exam Presentation  | 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66160"/>
            <a:ext cx="2926080" cy="475488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566160"/>
            <a:ext cx="292608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63931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Use Case 1  ·  Multi-Agentic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69663"/>
            <a:ext cx="2926080" cy="475488"/>
          </a:xfrm>
          <a:prstGeom prst="rect">
            <a:avLst/>
          </a:prstGeom>
          <a:solidFill>
            <a:srgbClr val="E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169663"/>
            <a:ext cx="2926080" cy="457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24281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Use Case 2  ·  RAG Evolution Journey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548640"/>
            <a:ext cx="3566160" cy="557784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1005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A6400"/>
                </a:solidFill>
              </a:rPr>
              <a:t>EngX AI Coach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572768"/>
            <a:ext cx="3017520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1080" y="1719072"/>
            <a:ext cx="3154680" cy="4114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300" b="1">
                <a:solidFill>
                  <a:srgbClr val="0D0D35"/>
                </a:solidFill>
              </a:rPr>
              <a:t>Final Exam</a:t>
            </a:r>
          </a:p>
          <a:p>
            <a:endParaRPr sz="1300" b="1">
              <a:solidFill>
                <a:srgbClr val="0D0D35"/>
              </a:solidFill>
            </a:endParaRPr>
          </a:p>
          <a:p>
            <a:r>
              <a:rPr sz="1100" b="1">
                <a:solidFill>
                  <a:srgbClr val="666688"/>
                </a:solidFill>
              </a:rPr>
              <a:t>Topic:</a:t>
            </a:r>
          </a:p>
          <a:p>
            <a:r>
              <a:rPr sz="1200" b="1">
                <a:solidFill>
                  <a:srgbClr val="0D0D35"/>
                </a:solidFill>
              </a:rPr>
              <a:t>Multi-Agentic</a:t>
            </a:r>
          </a:p>
          <a:p>
            <a:r>
              <a:rPr sz="1200" b="1">
                <a:solidFill>
                  <a:srgbClr val="0D0D35"/>
                </a:solidFill>
              </a:rPr>
              <a:t>Solution Design</a:t>
            </a:r>
          </a:p>
          <a:p>
            <a:endParaRPr sz="1200" b="1">
              <a:solidFill>
                <a:srgbClr val="0D0D35"/>
              </a:solidFill>
            </a:endParaRPr>
          </a:p>
          <a:p>
            <a:r>
              <a:rPr sz="1100" b="1">
                <a:solidFill>
                  <a:srgbClr val="666688"/>
                </a:solidFill>
              </a:rPr>
              <a:t>2 Use Cases</a:t>
            </a:r>
          </a:p>
          <a:p>
            <a:r>
              <a:rPr sz="1100" b="0">
                <a:solidFill>
                  <a:srgbClr val="0D0D35"/>
                </a:solidFill>
              </a:rPr>
              <a:t>1. Multi-Agent System</a:t>
            </a:r>
          </a:p>
          <a:p>
            <a:r>
              <a:rPr sz="1100" b="0">
                <a:solidFill>
                  <a:srgbClr val="0D0D35"/>
                </a:solidFill>
              </a:rPr>
              <a:t>2. RAG Evolution</a:t>
            </a:r>
          </a:p>
          <a:p>
            <a:endParaRPr sz="1100" b="0">
              <a:solidFill>
                <a:srgbClr val="0D0D35"/>
              </a:solidFill>
            </a:endParaRPr>
          </a:p>
          <a:p>
            <a:r>
              <a:rPr sz="1100" b="0">
                <a:solidFill>
                  <a:srgbClr val="666688"/>
                </a:solidFill>
              </a:rPr>
              <a:t>18 slides</a:t>
            </a:r>
          </a:p>
          <a:p>
            <a:r>
              <a:rPr sz="1100" b="0">
                <a:solidFill>
                  <a:srgbClr val="666688"/>
                </a:solidFill>
              </a:rPr>
              <a:t>20-25 min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5440680" cy="539496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44068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22860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978408"/>
            <a:ext cx="2249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 Case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005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Multi-Agentic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01   What is a Multi-Agent System?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02   Architecture Flow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03   Agent Roles &amp; Responsibilities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04   Code: Agent Definition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12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05   Real-World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960120"/>
            <a:ext cx="36576" cy="5394960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82512" y="960120"/>
            <a:ext cx="5440680" cy="5394960"/>
          </a:xfrm>
          <a:prstGeom prst="rect">
            <a:avLst/>
          </a:prstGeom>
          <a:solidFill>
            <a:srgbClr val="E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82512" y="960120"/>
            <a:ext cx="5440680" cy="54864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82512" y="960120"/>
            <a:ext cx="2286000" cy="4572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978408"/>
            <a:ext cx="2249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 Case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1005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38F"/>
                </a:solidFill>
              </a:rPr>
              <a:t>RAG Evolution 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1554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38F"/>
                </a:solidFill>
              </a:rPr>
              <a:t>06   Why RAG Needed to Evolve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4688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D0D35"/>
                </a:solidFill>
              </a:rPr>
              <a:t>07   RAG Evolution Flow  (V1 › V2 › V3)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3832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08   Agentic RAG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4297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09   Code Demo: ask.py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5212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10   Comparison &amp; When to Use 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640080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66688"/>
                </a:solidFill>
              </a:rPr>
              <a:t>Practical Task  ·  Key Takeaways  ·  </a:t>
            </a:r>
            <a:r>
              <a:rPr lang="en-US" sz="1000" b="0" i="0" dirty="0">
                <a:solidFill>
                  <a:srgbClr val="666688"/>
                </a:solidFill>
              </a:rPr>
              <a:t>Q</a:t>
            </a:r>
            <a:r>
              <a:rPr sz="1000" b="0" i="0" dirty="0">
                <a:solidFill>
                  <a:srgbClr val="666688"/>
                </a:solidFill>
              </a:rPr>
              <a:t>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About 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60120"/>
            <a:ext cx="5486400" cy="5486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200" b="1" dirty="0">
                <a:solidFill>
                  <a:srgbClr val="0D0D35"/>
                </a:solidFill>
              </a:rPr>
              <a:t>Raviteja Thota</a:t>
            </a:r>
          </a:p>
          <a:p>
            <a:r>
              <a:rPr sz="1300" b="0" dirty="0">
                <a:solidFill>
                  <a:srgbClr val="222244"/>
                </a:solidFill>
              </a:rPr>
              <a:t>Senior Software Engineer  @  EPAM</a:t>
            </a:r>
          </a:p>
          <a:p>
            <a:r>
              <a:rPr sz="1100" b="0" dirty="0">
                <a:solidFill>
                  <a:srgbClr val="666688"/>
                </a:solidFill>
              </a:rPr>
              <a:t>Hyderabad, India</a:t>
            </a:r>
          </a:p>
          <a:p>
            <a:endParaRPr sz="1100" b="0" dirty="0">
              <a:solidFill>
                <a:srgbClr val="666688"/>
              </a:solidFill>
            </a:endParaRPr>
          </a:p>
          <a:p>
            <a:r>
              <a:rPr sz="1200" b="1" dirty="0">
                <a:solidFill>
                  <a:srgbClr val="FA6400"/>
                </a:solidFill>
              </a:rPr>
              <a:t>Stack:</a:t>
            </a:r>
          </a:p>
          <a:p>
            <a:r>
              <a:rPr sz="1100" b="0" dirty="0">
                <a:solidFill>
                  <a:srgbClr val="222244"/>
                </a:solidFill>
              </a:rPr>
              <a:t>Angular  ·  Java / Spring Boot  ·  AWS  ·  Microservices</a:t>
            </a:r>
          </a:p>
          <a:p>
            <a:endParaRPr sz="1100" b="0" dirty="0">
              <a:solidFill>
                <a:srgbClr val="222244"/>
              </a:solidFill>
            </a:endParaRPr>
          </a:p>
          <a:p>
            <a:r>
              <a:rPr sz="1200" b="1" dirty="0">
                <a:solidFill>
                  <a:srgbClr val="FA6400"/>
                </a:solidFill>
              </a:rPr>
              <a:t>Certifications:</a:t>
            </a:r>
          </a:p>
          <a:p>
            <a:r>
              <a:rPr sz="1100" b="0" dirty="0">
                <a:solidFill>
                  <a:srgbClr val="222244"/>
                </a:solidFill>
              </a:rPr>
              <a:t>  Claude Certified Architect – Foundations  (Anthropic 2026)</a:t>
            </a:r>
          </a:p>
          <a:p>
            <a:r>
              <a:rPr sz="1100" b="0" dirty="0">
                <a:solidFill>
                  <a:srgbClr val="222244"/>
                </a:solidFill>
              </a:rPr>
              <a:t>  Microsoft AZ-400 DevOps Engineer Expert  (2026)</a:t>
            </a:r>
          </a:p>
          <a:p>
            <a:r>
              <a:rPr sz="1100" b="0" dirty="0">
                <a:solidFill>
                  <a:srgbClr val="222244"/>
                </a:solidFill>
              </a:rPr>
              <a:t>  AWS Certified Developer – Associate</a:t>
            </a:r>
          </a:p>
          <a:p>
            <a:r>
              <a:rPr sz="1100" b="0" dirty="0">
                <a:solidFill>
                  <a:srgbClr val="222244"/>
                </a:solidFill>
              </a:rPr>
              <a:t>  Google Professional Cloud Developer</a:t>
            </a:r>
          </a:p>
          <a:p>
            <a:r>
              <a:rPr sz="1100" b="0" dirty="0">
                <a:solidFill>
                  <a:srgbClr val="222244"/>
                </a:solidFill>
              </a:rPr>
              <a:t>  Oracle OCI Generative AI Professional</a:t>
            </a:r>
          </a:p>
          <a:p>
            <a:r>
              <a:rPr sz="1100" b="0" dirty="0">
                <a:solidFill>
                  <a:srgbClr val="222244"/>
                </a:solidFill>
              </a:rPr>
              <a:t>  AWS AI Practitioner</a:t>
            </a:r>
          </a:p>
          <a:p>
            <a:endParaRPr sz="1100" b="0" dirty="0">
              <a:solidFill>
                <a:srgbClr val="222244"/>
              </a:solidFill>
            </a:endParaRPr>
          </a:p>
          <a:p>
            <a:r>
              <a:rPr sz="1200" b="1" dirty="0">
                <a:solidFill>
                  <a:srgbClr val="FA6400"/>
                </a:solidFill>
              </a:rPr>
              <a:t>India Innovation Enabler  (Feb 2026)</a:t>
            </a:r>
          </a:p>
          <a:p>
            <a:r>
              <a:rPr sz="1100" b="0" dirty="0">
                <a:solidFill>
                  <a:srgbClr val="666688"/>
                </a:solidFill>
              </a:rPr>
              <a:t>  Smart Mapper + </a:t>
            </a:r>
            <a:r>
              <a:rPr sz="1100" b="0" dirty="0" err="1">
                <a:solidFill>
                  <a:srgbClr val="666688"/>
                </a:solidFill>
              </a:rPr>
              <a:t>ATF→Flow</a:t>
            </a:r>
            <a:r>
              <a:rPr sz="1100" b="0" dirty="0">
                <a:solidFill>
                  <a:srgbClr val="666688"/>
                </a:solidFill>
              </a:rPr>
              <a:t> Framework at LEAP (global)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16752" y="960120"/>
            <a:ext cx="36576" cy="54864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960120"/>
            <a:ext cx="5650992" cy="5486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300" b="1">
                <a:solidFill>
                  <a:srgbClr val="0D0D35"/>
                </a:solidFill>
              </a:rPr>
              <a:t>Apps Built for This Exam:</a:t>
            </a:r>
          </a:p>
          <a:p>
            <a:endParaRPr sz="1300" b="1">
              <a:solidFill>
                <a:srgbClr val="0D0D35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agentic-ai-toggle-management</a:t>
            </a:r>
          </a:p>
          <a:p>
            <a:r>
              <a:rPr sz="1100" b="0">
                <a:solidFill>
                  <a:srgbClr val="666688"/>
                </a:solidFill>
              </a:rPr>
              <a:t>  Orchestrator + 5 agents, Confluence MCP</a:t>
            </a:r>
          </a:p>
          <a:p>
            <a:r>
              <a:rPr sz="1100" b="0">
                <a:solidFill>
                  <a:srgbClr val="666688"/>
                </a:solidFill>
              </a:rPr>
              <a:t>  Java toggle analysis &amp; code refactoring</a:t>
            </a:r>
          </a:p>
          <a:p>
            <a:endParaRPr sz="1100" b="0">
              <a:solidFill>
                <a:srgbClr val="666688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vector-rag-app-v1</a:t>
            </a:r>
          </a:p>
          <a:p>
            <a:r>
              <a:rPr sz="1100" b="0">
                <a:solidFill>
                  <a:srgbClr val="666688"/>
                </a:solidFill>
              </a:rPr>
              <a:t>  ChromaDB + sentence-transformers + BM25</a:t>
            </a:r>
          </a:p>
          <a:p>
            <a:endParaRPr sz="1100" b="0">
              <a:solidFill>
                <a:srgbClr val="666688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vector-less-rag-app-v2</a:t>
            </a:r>
          </a:p>
          <a:p>
            <a:r>
              <a:rPr sz="1100" b="0">
                <a:solidFill>
                  <a:srgbClr val="666688"/>
                </a:solidFill>
              </a:rPr>
              <a:t>  BM25 + FastAPI, no vector DB</a:t>
            </a:r>
          </a:p>
          <a:p>
            <a:endParaRPr sz="1100" b="0">
              <a:solidFill>
                <a:srgbClr val="666688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vector-less-rag-app</a:t>
            </a:r>
          </a:p>
          <a:p>
            <a:r>
              <a:rPr sz="1100" b="0">
                <a:solidFill>
                  <a:srgbClr val="666688"/>
                </a:solidFill>
              </a:rPr>
              <a:t>  BM25 + Streamlit, multi-query search</a:t>
            </a:r>
          </a:p>
          <a:p>
            <a:endParaRPr sz="1100" b="0">
              <a:solidFill>
                <a:srgbClr val="666688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vector-less-rag-agentic</a:t>
            </a:r>
          </a:p>
          <a:p>
            <a:r>
              <a:rPr sz="1100" b="0">
                <a:solidFill>
                  <a:srgbClr val="666688"/>
                </a:solidFill>
              </a:rPr>
              <a:t>  LLM as retriever + .github/agents</a:t>
            </a:r>
          </a:p>
          <a:p>
            <a:endParaRPr sz="1100" b="0">
              <a:solidFill>
                <a:srgbClr val="666688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transcript-notes-generator</a:t>
            </a:r>
          </a:p>
          <a:p>
            <a:r>
              <a:rPr sz="1100" b="0">
                <a:solidFill>
                  <a:srgbClr val="666688"/>
                </a:solidFill>
              </a:rPr>
              <a:t>  faster-whisper + Copilot LLM +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29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1152144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256032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50976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Use Case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0D35"/>
                </a:solidFill>
              </a:rPr>
              <a:t>Multi-Agentic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24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88"/>
                </a:solidFill>
              </a:rPr>
              <a:t>Real-World Problem — Developers waste days manually tracking feature toggle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55264"/>
            <a:ext cx="36576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10972800" cy="2560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300" b="1">
                <a:solidFill>
                  <a:srgbClr val="0D0D35"/>
                </a:solidFill>
              </a:rPr>
              <a:t>Real-World Problem:</a:t>
            </a:r>
          </a:p>
          <a:p>
            <a:r>
              <a:rPr sz="1200" b="0">
                <a:solidFill>
                  <a:srgbClr val="222244"/>
                </a:solidFill>
              </a:rPr>
              <a:t>&gt;  100+ feature toggles across 16,000+ Java files in 7 repos</a:t>
            </a:r>
          </a:p>
          <a:p>
            <a:r>
              <a:rPr sz="1200" b="0">
                <a:solidFill>
                  <a:srgbClr val="222244"/>
                </a:solidFill>
              </a:rPr>
              <a:t>&gt;  Devs manually grep code, check stale Confluence, write impact notes — days per toggle</a:t>
            </a:r>
          </a:p>
          <a:p>
            <a:r>
              <a:rPr sz="1200" b="0">
                <a:solidFill>
                  <a:srgbClr val="222244"/>
                </a:solidFill>
              </a:rPr>
              <a:t>&gt;  No automated way to answer: "What breaks if I flip this toggle OFF in production?"</a:t>
            </a:r>
          </a:p>
          <a:p>
            <a:r>
              <a:rPr sz="1200" b="0">
                <a:solidFill>
                  <a:srgbClr val="222244"/>
                </a:solidFill>
              </a:rPr>
              <a:t>&gt;  Multi-agent system solves this end-to-end in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What Is a Multi-Agent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Core concept — why single LLM fails at scale and how the orchestrator pattern fixes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394960" cy="5440680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39496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042415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Single LLM  —  Breaks When: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5074920" cy="4663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200" b="1">
                <a:solidFill>
                  <a:srgbClr val="0D0D35"/>
                </a:solidFill>
              </a:rPr>
              <a:t>One model handles everything.</a:t>
            </a:r>
          </a:p>
          <a:p>
            <a:endParaRPr sz="1200" b="1">
              <a:solidFill>
                <a:srgbClr val="0D0D35"/>
              </a:solidFill>
            </a:endParaRPr>
          </a:p>
          <a:p>
            <a:r>
              <a:rPr sz="1200" b="1">
                <a:solidFill>
                  <a:srgbClr val="C62828"/>
                </a:solidFill>
              </a:rPr>
              <a:t>Context window overflow</a:t>
            </a:r>
          </a:p>
          <a:p>
            <a:r>
              <a:rPr sz="1100" b="0">
                <a:solidFill>
                  <a:srgbClr val="222244"/>
                </a:solidFill>
              </a:rPr>
              <a:t>16K+ files don't fit one prompt — context loss = wrong output.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C62828"/>
                </a:solidFill>
              </a:rPr>
              <a:t>No specialisation</a:t>
            </a:r>
          </a:p>
          <a:p>
            <a:r>
              <a:rPr sz="1100" b="0">
                <a:solidFill>
                  <a:srgbClr val="222244"/>
                </a:solidFill>
              </a:rPr>
              <a:t>A generalist LLM is worse than a focused expert agent for complex tasks.</a:t>
            </a:r>
          </a:p>
          <a:p>
            <a:endParaRPr sz="1100" b="0">
              <a:solidFill>
                <a:srgbClr val="222244"/>
              </a:solidFill>
            </a:endParaRP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C62828"/>
                </a:solidFill>
              </a:rPr>
              <a:t>Sequential — single point of failure</a:t>
            </a:r>
          </a:p>
          <a:p>
            <a:r>
              <a:rPr sz="1100" b="0">
                <a:solidFill>
                  <a:srgbClr val="222244"/>
                </a:solidFill>
              </a:rPr>
              <a:t>One prompt fails = entire pipeline fails. No parallelism.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C62828"/>
                </a:solidFill>
              </a:rPr>
              <a:t>Hard to maintain &amp; grow</a:t>
            </a:r>
          </a:p>
          <a:p>
            <a:r>
              <a:rPr sz="1100" b="0">
                <a:solidFill>
                  <a:srgbClr val="222244"/>
                </a:solidFill>
              </a:rPr>
              <a:t>Monolithic prompts break as scope grows — no separation of concerns.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C62828"/>
                </a:solidFill>
              </a:rPr>
              <a:t>Developer pain (real)</a:t>
            </a:r>
          </a:p>
          <a:p>
            <a:r>
              <a:rPr sz="1100" b="0">
                <a:solidFill>
                  <a:srgbClr val="222244"/>
                </a:solidFill>
              </a:rPr>
              <a:t>Toggle analysis across 16K+ Java files — this is why we built the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2976" y="3438144"/>
            <a:ext cx="111556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A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41264" y="3474720"/>
            <a:ext cx="10789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A64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960120"/>
            <a:ext cx="5102352" cy="5440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66560" y="960120"/>
            <a:ext cx="5102352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31152" y="1042415"/>
            <a:ext cx="4773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Multi-Agent Pattern  —  Solves 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517904"/>
            <a:ext cx="4773168" cy="4663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200" b="1">
                <a:solidFill>
                  <a:srgbClr val="0D0D35"/>
                </a:solidFill>
              </a:rPr>
              <a:t>Orchestrator routes. Agents specialise.</a:t>
            </a:r>
          </a:p>
          <a:p>
            <a:endParaRPr sz="1200" b="1">
              <a:solidFill>
                <a:srgbClr val="0D0D35"/>
              </a:solidFill>
            </a:endParaRPr>
          </a:p>
          <a:p>
            <a:r>
              <a:rPr sz="1200" b="1">
                <a:solidFill>
                  <a:srgbClr val="2E7D32"/>
                </a:solidFill>
              </a:rPr>
              <a:t>Separation of concerns</a:t>
            </a:r>
          </a:p>
          <a:p>
            <a:r>
              <a:rPr sz="1100" b="0">
                <a:solidFill>
                  <a:srgbClr val="222244"/>
                </a:solidFill>
              </a:rPr>
              <a:t>1 Orchestrator (router) + N Sub-Agents (specialists) + shared tools.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2E7D32"/>
                </a:solidFill>
              </a:rPr>
              <a:t>Tool composability per agent</a:t>
            </a:r>
          </a:p>
          <a:p>
            <a:r>
              <a:rPr sz="1100" b="0">
                <a:solidFill>
                  <a:srgbClr val="222244"/>
                </a:solidFill>
              </a:rPr>
              <a:t>Each agent gets its own MCP tools, file ops, grep — no conflicts.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2E7D32"/>
                </a:solidFill>
              </a:rPr>
              <a:t>Resumable &amp; parallel</a:t>
            </a:r>
          </a:p>
          <a:p>
            <a:r>
              <a:rPr sz="1100" b="0">
                <a:solidFill>
                  <a:srgbClr val="222244"/>
                </a:solidFill>
              </a:rPr>
              <a:t>Shared state persists across turns. Agents run concurrently.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2E7D32"/>
                </a:solidFill>
              </a:rPr>
              <a:t>Testable &amp; extensible</a:t>
            </a:r>
          </a:p>
          <a:p>
            <a:r>
              <a:rPr sz="1100" b="0">
                <a:solidFill>
                  <a:srgbClr val="222244"/>
                </a:solidFill>
              </a:rPr>
              <a:t>Every handoff is logged. Add or swap agents without rewiring.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2E7D32"/>
                </a:solidFill>
              </a:rPr>
              <a:t>Mental model</a:t>
            </a:r>
          </a:p>
          <a:p>
            <a:r>
              <a:rPr sz="1100" b="0">
                <a:solidFill>
                  <a:srgbClr val="222244"/>
                </a:solidFill>
              </a:rPr>
              <a:t>User → Orchestrator → [SA1 · SA2 · … · SAN] → Shared Tools →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Architecture Flow: Orchestrator + 5 Sub-Agents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Pattern: 1 Orchestrator → N Specialist Agents via run_subagent  ·  Each owns ONE domain  ·  Shared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3208" y="960120"/>
            <a:ext cx="1993392" cy="54864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93208" y="960120"/>
            <a:ext cx="1993392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4648" y="1017766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35"/>
                </a:solidFill>
              </a:rPr>
              <a:t>👤  User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1319519"/>
            <a:ext cx="1810512" cy="4571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 dirty="0">
                <a:solidFill>
                  <a:srgbClr val="666688"/>
                </a:solidFill>
              </a:rPr>
              <a:t>Plain English or /slash-</a:t>
            </a:r>
            <a:r>
              <a:rPr sz="900" b="0" dirty="0" err="1">
                <a:solidFill>
                  <a:srgbClr val="666688"/>
                </a:solidFill>
              </a:rPr>
              <a:t>cmd</a:t>
            </a:r>
            <a:endParaRPr sz="900" b="0" dirty="0">
              <a:solidFill>
                <a:srgbClr val="66668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07608" y="1527048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920240"/>
            <a:ext cx="5120640" cy="1005840"/>
          </a:xfrm>
          <a:prstGeom prst="roundRect">
            <a:avLst/>
          </a:prstGeom>
          <a:solidFill>
            <a:srgbClr val="E3F0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920240"/>
            <a:ext cx="512064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99339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🎯  TOGGLE-ORCHESTRATOR  (Router)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59152"/>
            <a:ext cx="4937759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Routes commands · Answers simple queries inline · NEVER does leaf work · Enforces guardrails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944368"/>
            <a:ext cx="36576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89888" y="3218688"/>
            <a:ext cx="9436608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80160" y="3218688"/>
            <a:ext cx="36576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351129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584448"/>
            <a:ext cx="1865376" cy="2468880"/>
          </a:xfrm>
          <a:prstGeom prst="roundRect">
            <a:avLst/>
          </a:prstGeom>
          <a:solidFill>
            <a:srgbClr val="E3F0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584448"/>
            <a:ext cx="1865376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SA-1
ANALYSIS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23360"/>
            <a:ext cx="1682496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Java source scan</a:t>
            </a:r>
          </a:p>
          <a:p>
            <a:r>
              <a:rPr sz="900" b="0">
                <a:solidFill>
                  <a:srgbClr val="666688"/>
                </a:solidFill>
              </a:rPr>
              <a:t>ON/OFF impact</a:t>
            </a:r>
          </a:p>
          <a:p>
            <a:r>
              <a:rPr sz="900" b="0">
                <a:solidFill>
                  <a:srgbClr val="666688"/>
                </a:solidFill>
              </a:rPr>
              <a:t>S2A enrichment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39312" y="3218688"/>
            <a:ext cx="36576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93008" y="351129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24912" y="3584448"/>
            <a:ext cx="1865376" cy="2468880"/>
          </a:xfrm>
          <a:prstGeom prst="roundRect">
            <a:avLst/>
          </a:prstGeom>
          <a:solidFill>
            <a:srgbClr val="E3F0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24912" y="3584448"/>
            <a:ext cx="1865376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16352" y="3657600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SA-2
REPORT WRITER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6352" y="4023360"/>
            <a:ext cx="1682496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6 report types</a:t>
            </a:r>
          </a:p>
          <a:p>
            <a:r>
              <a:rPr sz="900" b="0">
                <a:solidFill>
                  <a:srgbClr val="666688"/>
                </a:solidFill>
              </a:rPr>
              <a:t>Markdown output</a:t>
            </a:r>
          </a:p>
          <a:p>
            <a:r>
              <a:rPr sz="900" b="0">
                <a:solidFill>
                  <a:srgbClr val="666688"/>
                </a:solidFill>
              </a:rPr>
              <a:t>Coverage check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98464" y="3218688"/>
            <a:ext cx="36576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52160" y="351129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84064" y="3584448"/>
            <a:ext cx="1865376" cy="2468880"/>
          </a:xfrm>
          <a:prstGeom prst="roundRect">
            <a:avLst/>
          </a:prstGeom>
          <a:solidFill>
            <a:srgbClr val="E3F0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84064" y="3584448"/>
            <a:ext cx="1865376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75504" y="3657600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SA-3
CONFLUENCE ENQUIRY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5504" y="4023360"/>
            <a:ext cx="1682496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4-tier MCP search</a:t>
            </a:r>
          </a:p>
          <a:p>
            <a:r>
              <a:rPr sz="900" b="0">
                <a:solidFill>
                  <a:srgbClr val="666688"/>
                </a:solidFill>
              </a:rPr>
              <a:t>Page metadata</a:t>
            </a:r>
          </a:p>
          <a:p>
            <a:r>
              <a:rPr sz="900" b="0">
                <a:solidFill>
                  <a:srgbClr val="666688"/>
                </a:solidFill>
              </a:rPr>
              <a:t>Batch fetch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57616" y="3218688"/>
            <a:ext cx="36576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11312" y="351129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43216" y="3584448"/>
            <a:ext cx="1865376" cy="2468880"/>
          </a:xfrm>
          <a:prstGeom prst="roundRect">
            <a:avLst/>
          </a:prstGeom>
          <a:solidFill>
            <a:srgbClr val="FFE0CC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443216" y="3584448"/>
            <a:ext cx="1865376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34656" y="3657600"/>
            <a:ext cx="168249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A6400"/>
                </a:solidFill>
              </a:rPr>
              <a:t>SA-4
ADVISOR</a:t>
            </a:r>
            <a:br>
              <a:rPr lang="en-US" sz="1100" b="1" i="0" dirty="0">
                <a:solidFill>
                  <a:srgbClr val="FA6400"/>
                </a:solidFill>
              </a:rPr>
            </a:br>
            <a:r>
              <a:rPr sz="1100" b="1" i="0" dirty="0">
                <a:solidFill>
                  <a:srgbClr val="FA6400"/>
                </a:solidFill>
              </a:rPr>
              <a:t>★ on-request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0376" y="4210812"/>
            <a:ext cx="1682496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 dirty="0">
                <a:solidFill>
                  <a:srgbClr val="666688"/>
                </a:solidFill>
              </a:rPr>
              <a:t>Decomp planning</a:t>
            </a:r>
          </a:p>
          <a:p>
            <a:r>
              <a:rPr sz="900" b="0" dirty="0">
                <a:solidFill>
                  <a:srgbClr val="666688"/>
                </a:solidFill>
              </a:rPr>
              <a:t>Java refactoring</a:t>
            </a:r>
          </a:p>
          <a:p>
            <a:r>
              <a:rPr sz="900" b="0" dirty="0">
                <a:solidFill>
                  <a:srgbClr val="666688"/>
                </a:solidFill>
              </a:rPr>
              <a:t>Toggle removal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716768" y="3218688"/>
            <a:ext cx="36576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70464" y="351129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02368" y="3584448"/>
            <a:ext cx="1865376" cy="2468880"/>
          </a:xfrm>
          <a:prstGeom prst="roundRect">
            <a:avLst/>
          </a:prstGeom>
          <a:solidFill>
            <a:srgbClr val="E3F0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802368" y="3584448"/>
            <a:ext cx="1865376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93808" y="3657600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SA-5
WORKSPACE MANAGER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3808" y="4023360"/>
            <a:ext cx="1682496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Session state</a:t>
            </a:r>
          </a:p>
          <a:p>
            <a:r>
              <a:rPr sz="900" b="0">
                <a:solidFill>
                  <a:srgbClr val="666688"/>
                </a:solidFill>
              </a:rPr>
              <a:t>Registry mgmt</a:t>
            </a:r>
          </a:p>
          <a:p>
            <a:r>
              <a:rPr sz="900" b="0">
                <a:solidFill>
                  <a:srgbClr val="666688"/>
                </a:solidFill>
              </a:rPr>
              <a:t>Repo onboarding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6108192"/>
            <a:ext cx="11448288" cy="38404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65760" y="6108192"/>
            <a:ext cx="1144828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2064" y="61630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Shared Tools:  read_file  ·  grep_search  ·  run_subagent  ·  insert_edit_into_file  ·  mcp-confluence/getPage  ·  run_in_terminal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Agent Roles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Each agent owns exactly one domain — clear input/output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11539728" cy="402336"/>
          </a:xfrm>
          <a:prstGeom prst="rect">
            <a:avLst/>
          </a:prstGeom>
          <a:solidFill>
            <a:srgbClr val="0D0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987552"/>
            <a:ext cx="1956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98755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987552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987552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399032"/>
            <a:ext cx="11539728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203704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1490472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6400"/>
                </a:solidFill>
              </a:rPr>
              <a:t>toggle-orchestrator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490472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Routes all commands. Delegates to sub-agents. Never does leaf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1490472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run_subagent, read_file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490472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Delegated or inline answer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276856"/>
            <a:ext cx="11539728" cy="84124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081528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79" y="2368296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44"/>
                </a:solidFill>
              </a:rPr>
              <a:t>SA-1  analysis-engine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368296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Scans all Java repos. Builds ON/OFF business impact per toggle.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2368296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grep_search, read_file, run_in_terminal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368296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Analysis CSV per toggle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154680"/>
            <a:ext cx="11539728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3959352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79" y="3246120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44"/>
                </a:solidFill>
              </a:rPr>
              <a:t>SA-2  report-writer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246120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Generates 6 structured Markdown report types from analysis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3246120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read_file, insert_edit_into_file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246120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Markdown report files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32504"/>
            <a:ext cx="11539728" cy="84124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4837176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79" y="4123944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44"/>
                </a:solidFill>
              </a:rPr>
              <a:t>SA-3  confluence-enquiry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123944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4-tier Confluence search. Fetches live page metadata per toggle.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79" y="4123944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mcp-confluence/getPage, searchContent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123944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Results CSV + metadata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8"/>
            <a:ext cx="11539728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571500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79" y="5001768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44"/>
                </a:solidFill>
              </a:rPr>
              <a:t>SA-4  advisor  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5001768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Plans &amp; executes toggle decomposition. Refactors Java code on request.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79" y="5001768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read_file, apply_patch, grep_search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001768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Decomp plan / refactored Java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788152"/>
            <a:ext cx="11539728" cy="84124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6592824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79" y="5879592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44"/>
                </a:solidFill>
              </a:rPr>
              <a:t>SA-5  workspace-manager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5879592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Manages session state, toggle registry and workspace lifecycle.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79" y="5879592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read_file, create_file, insert_edit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5879592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Registry + session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Code: Defining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.github/agents/toggle-orchestrator.agent.md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11539728" cy="55778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042415"/>
            <a:ext cx="11173968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---
name: toggle-orchestrator
description: Session entry point and router for the toggle management system.
tools:
  - read_file
  - run_subagent          # delegates to specialist sub-agents
  - grep_search
  - mcp-confluence/getPage
  - insert_edit_into_file
---
# Toggle Orchestrator
## Routing Strategy
### Tier 1 — Handle Inline  (no sub-agent delegation)
| Request                       | Orchestrator Action                         |
|-------------------------------|---------------------------------------------|
| Single toggle data query      | Read analysis CSV, reply as Markdown        |
| Analysis status check         | Count registry rows, answer inline          |
| Toggle already analysed       | Display existing rows from analysis CSV     |
### Tier 2 — Delegate to Sub-Agent
| User Command                           | Sub-Agent Invoked              |
|----------------------------------------|--------------------------------|
| analyze toggle &lt;name&gt;                  | toggle-analysis-engine  SA-1   |
| generate report                        | toggle-report-writer    SA-2   |
| fetch confluence data for &lt;name&gt;       | toggle-confluence-enquiry SA-3 |
| plan toggle decomposition for &lt;repo&gt;   | toggle-advisor          SA-4   |
| manage session / onboard repo          | toggle-workspace-manager SA-5  |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Pattern in Action: What the Multi-Agent System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Replicate this on any multi-repo, toggle-heavy codebase — results scale with the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2157984" cy="17373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21579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078992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6400"/>
                </a:solidFill>
              </a:rPr>
              <a:t>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47088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44"/>
                </a:solidFill>
              </a:rPr>
              <a:t>Feature toggles
analysed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960120"/>
            <a:ext cx="2157984" cy="17373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97480" y="960120"/>
            <a:ext cx="21579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1078992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6400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847088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44"/>
                </a:solidFill>
              </a:rPr>
              <a:t>Java repos
scanned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960120"/>
            <a:ext cx="2157984" cy="17373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74920" y="960120"/>
            <a:ext cx="21579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1078992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6400"/>
                </a:solidFill>
              </a:rPr>
              <a:t>16K+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1847088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44"/>
                </a:solidFill>
              </a:rPr>
              <a:t>Java files
processed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960120"/>
            <a:ext cx="2157984" cy="17373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52360" y="960120"/>
            <a:ext cx="21579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1078992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6400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1847088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44"/>
                </a:solidFill>
              </a:rPr>
              <a:t>Report types
auto-generated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960120"/>
            <a:ext cx="2157984" cy="17373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29800" y="960120"/>
            <a:ext cx="21579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9800" y="1078992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6400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1847088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44"/>
                </a:solidFill>
              </a:rPr>
              <a:t>Specialist
agents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52928"/>
            <a:ext cx="5376672" cy="3310128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852928"/>
            <a:ext cx="5376672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" y="2926080"/>
            <a:ext cx="5047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Without the Pattern  (manual today)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383280"/>
            <a:ext cx="5047488" cy="2468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100" b="0">
                <a:solidFill>
                  <a:srgbClr val="222244"/>
                </a:solidFill>
              </a:rPr>
              <a:t>Engineer reads Java files manually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100" b="0">
                <a:solidFill>
                  <a:srgbClr val="222244"/>
                </a:solidFill>
              </a:rPr>
              <a:t>Checks Confluence (often stale)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100" b="0">
                <a:solidFill>
                  <a:srgbClr val="222244"/>
                </a:solidFill>
              </a:rPr>
              <a:t>Writes impact notes by hand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200" b="1">
                <a:solidFill>
                  <a:srgbClr val="C62828"/>
                </a:solidFill>
              </a:rPr>
              <a:t>Days per toggle  ·  Error-prone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8" y="425196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1968" y="2852928"/>
            <a:ext cx="5257800" cy="33101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01968" y="2852928"/>
            <a:ext cx="52578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48272" y="2926080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With Multi-Agent Pattern  (what you'll build)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3383280"/>
            <a:ext cx="4956048" cy="2468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100" b="1">
                <a:solidFill>
                  <a:srgbClr val="222244"/>
                </a:solidFill>
              </a:rPr>
              <a:t>User types:  "analyze toggle &lt;name&gt;"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100" b="0">
                <a:solidFill>
                  <a:srgbClr val="222244"/>
                </a:solidFill>
              </a:rPr>
              <a:t>Orchestrator routes to SA-1 (analysis)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100" b="0">
                <a:solidFill>
                  <a:srgbClr val="222244"/>
                </a:solidFill>
              </a:rPr>
              <a:t>SA-1 scans repos · SA-3 fetches docs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200" b="1">
                <a:solidFill>
                  <a:srgbClr val="2E7D32"/>
                </a:solidFill>
              </a:rPr>
              <a:t>Minutes per toggle  ·  Reproducible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29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11521440" cy="54864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2560320" cy="56692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50976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Use Case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0D35"/>
                </a:solidFill>
              </a:rPr>
              <a:t>RAG Evolution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24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88"/>
                </a:solidFill>
              </a:rPr>
              <a:t>Same orchestrator pattern — applied to document Q&amp;A and versioned spec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55264"/>
            <a:ext cx="3657600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10972800" cy="2560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300" b="1">
                <a:solidFill>
                  <a:srgbClr val="0D0D35"/>
                </a:solidFill>
              </a:rPr>
              <a:t>Why this connects to multi-agent:</a:t>
            </a:r>
          </a:p>
          <a:p>
            <a:r>
              <a:rPr sz="1200" b="0">
                <a:solidFill>
                  <a:srgbClr val="222244"/>
                </a:solidFill>
              </a:rPr>
              <a:t>&gt;  V3 Agentic RAG = orchestrator + convert-agent + qa-agent + summarizer-agent</a:t>
            </a:r>
          </a:p>
          <a:p>
            <a:r>
              <a:rPr sz="1200" b="0">
                <a:solidFill>
                  <a:srgbClr val="222244"/>
                </a:solidFill>
              </a:rPr>
              <a:t>&gt;  Acquirer specs (Visa, Mastercard APIs) are 200-page PDFs — BAs can't track changes manually</a:t>
            </a:r>
          </a:p>
          <a:p>
            <a:r>
              <a:rPr sz="1200" b="0">
                <a:solidFill>
                  <a:srgbClr val="222244"/>
                </a:solidFill>
              </a:rPr>
              <a:t>&gt;  No unified way to ask: "What changed in the auth flow between spec v2.3 and v2.4?"</a:t>
            </a:r>
          </a:p>
          <a:p>
            <a:r>
              <a:rPr sz="1200" b="0">
                <a:solidFill>
                  <a:srgbClr val="222244"/>
                </a:solidFill>
              </a:rPr>
              <a:t>&gt;  The same .github/agents framework solves both — orchestrator pattern is universal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Real-World Problem: Acquirer Spec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BAs drowning in versioned third-party spec documents — no smart search, no diff, no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3749039" cy="2761488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3749039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" y="1042415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Pain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1371600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Version Diff Is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1810512"/>
            <a:ext cx="351129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BA must open two 200-page PDFs side-by-side.
No tooling to highlight what changed between v2.3 and v2.4.
Barrier: misses critical field-level changes every release.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960120"/>
            <a:ext cx="3749039" cy="2761488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960120"/>
            <a:ext cx="3749039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7" y="1042415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Pain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7" y="1371600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Multi-Acquirer Fragmentation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1810512"/>
            <a:ext cx="351129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Visa, Mastercard, and local bank specs use different formats.
BAs switch between 5+ documents with no unified search layer.
Barrier: slow, error-prone cross-spec comparisons.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960120"/>
            <a:ext cx="3749039" cy="2761488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38744" y="960120"/>
            <a:ext cx="3749039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042415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Pain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371600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No Natural Language 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810512"/>
            <a:ext cx="351129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BAs can't ask: "What are the retry rules for declined transactions?"
Must CTRL+F keywords and read surrounding context manually.
Barrier: no intelligent extraction from spec documents.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858768"/>
            <a:ext cx="11539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How each generation solved these pains: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279392"/>
            <a:ext cx="3749039" cy="21945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4279392"/>
            <a:ext cx="3749039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" y="4370832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V1  › 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" y="5184648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44"/>
                </a:solidFill>
              </a:rPr>
              <a:t>Zero ChromaDB, zero GPU.
BM25 over spec pages — 5-min setup on any machine.
BAs can keyword-search any versioned spec instantly.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9392" y="4279392"/>
            <a:ext cx="3749039" cy="21945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79392" y="4279392"/>
            <a:ext cx="3749039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7407" y="4370832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V2  ›  V3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5038344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44"/>
                </a:solidFill>
              </a:rPr>
              <a:t>Zero retrieval code.
LLM reads full spec as JSON tree — section-aware, version-aware answers.
BAs ask in plain English, get structured answers.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38744" y="4279392"/>
            <a:ext cx="3749039" cy="21945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38744" y="4279392"/>
            <a:ext cx="3749039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66760" y="4370832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V3 + 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038344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44"/>
                </a:solidFill>
              </a:rPr>
              <a:t>.github/agents orchestrates: convert → ask → summarise → diff.
Multi-turn Q&amp;A + version comparison in minutes.
Same pattern as UC1 — just applied to documents.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RAG Evolution Flow: V1  ›  V2  › 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Each version removes one layer of complexity — same output, less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V1 — Vector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80160"/>
            <a:ext cx="3529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88"/>
                </a:solidFill>
              </a:rPr>
              <a:t>vector-rag-app-v1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256" y="960120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V2 — Vector-less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4256" y="1280160"/>
            <a:ext cx="3529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88"/>
                </a:solidFill>
              </a:rPr>
              <a:t>vector-less-rag-app-v2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960120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V3 — Agentic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1280160"/>
            <a:ext cx="3529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88"/>
                </a:solidFill>
              </a:rPr>
              <a:t>vector-less-rag-agentic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55448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55448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162763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Document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197510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PDF / DOCX / 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39" y="2212848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267712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267712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79" y="2340864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Chunker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2688336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512-token chunks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39" y="2926080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2980944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980944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79" y="3054096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Embedder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401568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sentence-transformers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39" y="3639311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3694176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694176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79" y="376732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Vector DB / 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4114800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ChromaDB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39" y="4352544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4407408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4407408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79" y="448056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Retrieve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4828032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Cosine sim top-K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39" y="506577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512064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512064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79" y="519379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LLM Answer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554126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GitHub Copilot LLM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34256" y="155448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34256" y="155448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25696" y="162763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Document Upload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5696" y="197510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PDF / DOCX / XLSX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34456" y="2212848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34256" y="2267712"/>
            <a:ext cx="3529584" cy="658368"/>
          </a:xfrm>
          <a:prstGeom prst="roundRect">
            <a:avLst/>
          </a:prstGeom>
          <a:solidFill>
            <a:srgbClr val="FCECEC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334256" y="2267712"/>
            <a:ext cx="3529584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25696" y="2340864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Chunker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25696" y="2688336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REMOVED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34256" y="2980944"/>
            <a:ext cx="3529584" cy="658368"/>
          </a:xfrm>
          <a:prstGeom prst="roundRect">
            <a:avLst/>
          </a:prstGeom>
          <a:solidFill>
            <a:srgbClr val="FCECEC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34256" y="2980944"/>
            <a:ext cx="3529584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425696" y="3054096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Embedder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25696" y="3401568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REMOVED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34256" y="3694176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34256" y="3694176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25696" y="376732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BM25 Index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25696" y="4114800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Keyword index over pages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34456" y="4352544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34256" y="4407408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334256" y="4407408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425696" y="448056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Retrieve top-K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25696" y="4828032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Multi-query BM25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34456" y="506577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34256" y="512064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334256" y="512064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425696" y="519379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LLM Answer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25696" y="554126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GitHub Copilot LLM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48472" y="155448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348472" y="155448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9912" y="162763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Document Upload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39912" y="197510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PDF / DOCX / XLSX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48672" y="2212848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48472" y="2267712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348472" y="2267712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439912" y="2340864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convert.py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39912" y="2688336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Extracts JSON tree structure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48672" y="2926080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348472" y="2980944"/>
            <a:ext cx="3529584" cy="658368"/>
          </a:xfrm>
          <a:prstGeom prst="roundRect">
            <a:avLst/>
          </a:prstGeom>
          <a:solidFill>
            <a:srgbClr val="FCECEC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348472" y="2980944"/>
            <a:ext cx="3529584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439912" y="3054096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Embedder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39912" y="3401568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REMOVED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348472" y="3694176"/>
            <a:ext cx="3529584" cy="658368"/>
          </a:xfrm>
          <a:prstGeom prst="roundRect">
            <a:avLst/>
          </a:prstGeom>
          <a:solidFill>
            <a:srgbClr val="FCECEC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348472" y="3694176"/>
            <a:ext cx="3529584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9912" y="376732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Retriever / Index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39912" y="4114800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REMOVED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48472" y="4407408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348472" y="4407408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39912" y="448056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LLM reads full doc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39912" y="4828032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Full JSON context, no retrieval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48672" y="506577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48472" y="512064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348472" y="512064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439912" y="519379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LLM Answer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39912" y="554126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Section-aware response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77056" y="35204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6400"/>
                </a:solidFill>
              </a:rPr>
              <a:t>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91272" y="35204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6400"/>
                </a:solidFill>
              </a:rPr>
              <a:t>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Agentic RAG: Full Architecture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vector-less-rag-agentic  —  .github/agents orchestrate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005840"/>
            <a:ext cx="1572768" cy="137160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" y="1005840"/>
            <a:ext cx="1572768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👤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Uploads doc</a:t>
            </a:r>
          </a:p>
          <a:p>
            <a:r>
              <a:rPr sz="900" b="0">
                <a:solidFill>
                  <a:srgbClr val="666688"/>
                </a:solidFill>
              </a:rPr>
              <a:t>asks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93392" y="1005840"/>
            <a:ext cx="1572768" cy="137160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93392" y="1005840"/>
            <a:ext cx="1572768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84832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📄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2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PDF / DOCX</a:t>
            </a:r>
          </a:p>
          <a:p>
            <a:r>
              <a:rPr sz="900" b="0">
                <a:solidFill>
                  <a:srgbClr val="666688"/>
                </a:solidFill>
              </a:rPr>
              <a:t>/ XLSX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94176" y="1005840"/>
            <a:ext cx="1572768" cy="137160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94176" y="1005840"/>
            <a:ext cx="1572768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85615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🔄 convert.py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5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JSON tree</a:t>
            </a:r>
          </a:p>
          <a:p>
            <a:r>
              <a:rPr sz="900" b="0">
                <a:solidFill>
                  <a:srgbClr val="666688"/>
                </a:solidFill>
              </a:rPr>
              <a:t>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1005840"/>
            <a:ext cx="1572768" cy="137160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94960" y="1005840"/>
            <a:ext cx="1572768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0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📋 JSON Tree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sections &amp; tables</a:t>
            </a:r>
          </a:p>
          <a:p>
            <a:r>
              <a:rPr sz="900" b="0">
                <a:solidFill>
                  <a:srgbClr val="666688"/>
                </a:solidFill>
              </a:rPr>
              <a:t>structured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95744" y="1005840"/>
            <a:ext cx="1572768" cy="1371600"/>
          </a:xfrm>
          <a:prstGeom prst="roundRect">
            <a:avLst/>
          </a:prstGeom>
          <a:solidFill>
            <a:srgbClr val="E0F7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95744" y="1005840"/>
            <a:ext cx="1572768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87184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🤖 ask.py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4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Sends full JSON</a:t>
            </a:r>
          </a:p>
          <a:p>
            <a:r>
              <a:rPr sz="900" b="0">
                <a:solidFill>
                  <a:srgbClr val="666688"/>
                </a:solidFill>
              </a:rPr>
              <a:t>+ question to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96528" y="1005840"/>
            <a:ext cx="1572768" cy="1371600"/>
          </a:xfrm>
          <a:prstGeom prst="roundRect">
            <a:avLst/>
          </a:prstGeom>
          <a:solidFill>
            <a:srgbClr val="E0F7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96528" y="1005840"/>
            <a:ext cx="1572768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87968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🧠 Copilot 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Reads &amp; retrieves</a:t>
            </a:r>
          </a:p>
          <a:p>
            <a:r>
              <a:rPr sz="900" b="0">
                <a:solidFill>
                  <a:srgbClr val="666688"/>
                </a:solidFill>
              </a:rPr>
              <a:t>from full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7584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97312" y="1005840"/>
            <a:ext cx="1572768" cy="137160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497312" y="1005840"/>
            <a:ext cx="1572768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88752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💬 Answer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Section-aware</a:t>
            </a:r>
          </a:p>
          <a:p>
            <a:r>
              <a:rPr sz="900" b="0">
                <a:solidFill>
                  <a:srgbClr val="666688"/>
                </a:solidFill>
              </a:rPr>
              <a:t>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" y="2560320"/>
            <a:ext cx="1159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GitHub Copilot  .github/agents  —  Orchestration Layer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" y="2907792"/>
            <a:ext cx="11594592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92608" y="3035808"/>
            <a:ext cx="2706624" cy="2487168"/>
          </a:xfrm>
          <a:prstGeom prst="roundRect">
            <a:avLst/>
          </a:prstGeom>
          <a:solidFill>
            <a:srgbClr val="E0F7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92608" y="3035808"/>
            <a:ext cx="2706624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4048" y="310896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doc-processor.md
+ pdf-processor.md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3474720"/>
            <a:ext cx="2523744" cy="1984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Runs convert.py</a:t>
            </a:r>
          </a:p>
          <a:p>
            <a:r>
              <a:rPr sz="900" b="0">
                <a:solidFill>
                  <a:srgbClr val="666688"/>
                </a:solidFill>
              </a:rPr>
              <a:t>Routes to qa-agent after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36976" y="3035808"/>
            <a:ext cx="2706624" cy="2487168"/>
          </a:xfrm>
          <a:prstGeom prst="roundRect">
            <a:avLst/>
          </a:prstGeom>
          <a:solidFill>
            <a:srgbClr val="E0F7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36976" y="3035808"/>
            <a:ext cx="2706624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28416" y="310896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qa-agent.md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8416" y="3474720"/>
            <a:ext cx="2523744" cy="1984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Calls ask.py</a:t>
            </a:r>
          </a:p>
          <a:p>
            <a:r>
              <a:rPr sz="900" b="0">
                <a:solidFill>
                  <a:srgbClr val="666688"/>
                </a:solidFill>
              </a:rPr>
              <a:t>Multi-turn Q&amp;A</a:t>
            </a:r>
          </a:p>
          <a:p>
            <a:r>
              <a:rPr sz="900" b="0">
                <a:solidFill>
                  <a:srgbClr val="666688"/>
                </a:solidFill>
              </a:rPr>
              <a:t>Session memory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81344" y="3035808"/>
            <a:ext cx="2706624" cy="2487168"/>
          </a:xfrm>
          <a:prstGeom prst="roundRect">
            <a:avLst/>
          </a:prstGeom>
          <a:solidFill>
            <a:srgbClr val="E0F7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181344" y="3035808"/>
            <a:ext cx="2706624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72784" y="310896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summarizer.md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72784" y="3474720"/>
            <a:ext cx="2523744" cy="1984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Calls summarize.py</a:t>
            </a:r>
          </a:p>
          <a:p>
            <a:r>
              <a:rPr sz="900" b="0">
                <a:solidFill>
                  <a:srgbClr val="666688"/>
                </a:solidFill>
              </a:rPr>
              <a:t>Section-by-section</a:t>
            </a:r>
          </a:p>
          <a:p>
            <a:r>
              <a:rPr sz="900" b="0">
                <a:solidFill>
                  <a:srgbClr val="666688"/>
                </a:solidFill>
              </a:rPr>
              <a:t>summaries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25712" y="3035808"/>
            <a:ext cx="2706624" cy="24871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125712" y="3035808"/>
            <a:ext cx="270662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217152" y="310896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copilot-instructions.md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17152" y="3474720"/>
            <a:ext cx="2523744" cy="1984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Shared context</a:t>
            </a:r>
          </a:p>
          <a:p>
            <a:r>
              <a:rPr sz="900" b="0">
                <a:solidFill>
                  <a:srgbClr val="666688"/>
                </a:solidFill>
              </a:rPr>
              <a:t>Model selection</a:t>
            </a:r>
          </a:p>
          <a:p>
            <a:r>
              <a:rPr sz="900" b="0">
                <a:solidFill>
                  <a:srgbClr val="666688"/>
                </a:solidFill>
              </a:rPr>
              <a:t>Auth setup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Code Demo: ask.py — The LLM IS the Retriever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vector-less-rag-agentic  |  No BM25  ·  No embeddings  ·  Only 3 Python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11539728" cy="55778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042415"/>
            <a:ext cx="11173968" cy="541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# ask.py  --  LLM acts as the retrieval agent  (vector-less-rag-agentic)
# Traditional RAG: embed -&gt; ChromaDB -&gt; BM25 -&gt; retrieve chunks -&gt; LLM
# Agentic RAG:     parse doc to JSON tree -&gt; send FULL JSON -&gt; LLM retrieves
def ask(json_path: str, question: str, model: str = "gpt-4o-mini") -&gt; str:
    doc     = json.loads(Path(json_path).read_text(encoding="utf-8"))
    context = build_context(doc)        # full JSON  --&gt;  readable Markdown sections
    client = openai.OpenAI(
        base_url = "https://models.inference.ai.azure.com",
        api_key  = get_token_or_raise(),   # reads from 'gh auth token' automatically
    )
    response = client.chat.completions.create(
        model    = model,
        messages = [
            {"role": "system", "content": SYSTEM_PROMPT},
            {"role": "user",   "content": f"{context}\n\nQuestion: {question}"},
        ],
        temperature = 0.2,
        max_tokens  = 1024,
    )
    return response.choices[0].message.content
def build_context(doc: dict) -&gt; str:
    # Convert JSON tree to readable Markdown -- no chunking, no BM25.
    parts = []
    for sec in doc.get('sections', []):
        parts.append(f"## {sec['heading']}\n{sec['content']}")
    return '\n\n'.join(parts)
# .github/agents/qa-agent.md orchestrates the session:
#   User question  -&gt;  agent  -&gt;  run ask.py  -&gt;  return answer  -&gt;  multi-turn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Comparison: V1  vs  V2  vs  V3  —  When to Use Which?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11539728" cy="402336"/>
          </a:xfrm>
          <a:prstGeom prst="rect">
            <a:avLst/>
          </a:prstGeom>
          <a:solidFill>
            <a:srgbClr val="0D0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987552"/>
            <a:ext cx="2441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987552"/>
            <a:ext cx="2798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V1  —  Vector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987552"/>
            <a:ext cx="2825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V2  —  Vector-less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987552"/>
            <a:ext cx="3090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V3  —  Agentic RAG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399032"/>
            <a:ext cx="11539728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96596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47218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Setup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147218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High — ChromaDB, GPU,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47218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Low — BM25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47218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Very low — 3 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39112"/>
            <a:ext cx="11539728" cy="603504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60604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79" y="211226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Infrastructure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211226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Vector DB + GPU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11226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11226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None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79191"/>
            <a:ext cx="11539728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324612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79" y="275234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Semantic search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275234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Best (embeddings)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75234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Partial (keyword)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75234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Best (LLM reasoning)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319272"/>
            <a:ext cx="11539728" cy="603504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88620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79" y="339242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Large docs  (&gt;100 pages)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2" y="339242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Best — chunked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39242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Good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39242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2828"/>
                </a:solidFill>
              </a:rPr>
              <a:t>Limited by 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59352"/>
            <a:ext cx="11539728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" y="452628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79" y="403250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Small–medium 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403250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2828"/>
                </a:solidFill>
              </a:rPr>
              <a:t>Overkill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03250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Good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03250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Best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599432"/>
            <a:ext cx="11539728" cy="603504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516636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79" y="467258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Code to maintain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9232" y="467258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Chunker+Embedder+DB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67258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Retriever+Index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467258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Zero retrieval code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239512"/>
            <a:ext cx="11539728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0040" y="580644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79" y="531266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Multi-turn agent support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9232" y="531266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2828"/>
                </a:solidFill>
              </a:rPr>
              <a:t>Manual wiring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531266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2828"/>
                </a:solidFill>
              </a:rPr>
              <a:t>Manual wiring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531266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Built-in via agents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879592"/>
            <a:ext cx="11539728" cy="603504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0040" y="644652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1479" y="595274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Best for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9232" y="595274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Enterprise, large corpus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595274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Mid-size, fast POC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15400" y="595274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Structured docs, RAG POC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6455664"/>
            <a:ext cx="11539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88"/>
                </a:solidFill>
              </a:rPr>
              <a:t>Rule: Can you fit the full doc in context? → V3 Agentic.  Large corpus? → V1.  Quick prototype? → V2.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Practical Task  —  Build Your Own  (15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5440680" cy="53949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440680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078992"/>
            <a:ext cx="5138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Task A  —  Multi-Agent Code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5138928" cy="45720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200" b="1">
                <a:solidFill>
                  <a:srgbClr val="222244"/>
                </a:solidFill>
              </a:rPr>
              <a:t>Build a 2-agent code review pipeline in 15 min:</a:t>
            </a:r>
          </a:p>
          <a:p>
            <a:endParaRPr sz="1200" b="1">
              <a:solidFill>
                <a:srgbClr val="222244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1  Orchestrator</a:t>
            </a:r>
          </a:p>
          <a:p>
            <a:r>
              <a:rPr sz="1000" b="0">
                <a:solidFill>
                  <a:srgbClr val="666688"/>
                </a:solidFill>
              </a:rPr>
              <a:t>  .github/agents/code-review-orchestrator.agent.md</a:t>
            </a:r>
          </a:p>
          <a:p>
            <a:r>
              <a:rPr sz="1000" b="0">
                <a:solidFill>
                  <a:srgbClr val="222244"/>
                </a:solidFill>
              </a:rPr>
              <a:t>  Role: accept file path → delegate → return summary</a:t>
            </a:r>
          </a:p>
          <a:p>
            <a:r>
              <a:rPr sz="1000" b="0">
                <a:solidFill>
                  <a:srgbClr val="666688"/>
                </a:solidFill>
              </a:rPr>
              <a:t>  Tools: run_subagent</a:t>
            </a:r>
          </a:p>
          <a:p>
            <a:endParaRPr sz="1000" b="0">
              <a:solidFill>
                <a:srgbClr val="666688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2  Analyser</a:t>
            </a:r>
          </a:p>
          <a:p>
            <a:r>
              <a:rPr sz="1000" b="0">
                <a:solidFill>
                  <a:srgbClr val="666688"/>
                </a:solidFill>
              </a:rPr>
              <a:t>  .github/agents/code-analyser.agent.md</a:t>
            </a:r>
          </a:p>
          <a:p>
            <a:r>
              <a:rPr sz="1000" b="0">
                <a:solidFill>
                  <a:srgbClr val="222244"/>
                </a:solidFill>
              </a:rPr>
              <a:t>  Find: functions &gt;30 lines · missing error handling</a:t>
            </a:r>
          </a:p>
          <a:p>
            <a:r>
              <a:rPr sz="1000" b="0">
                <a:solidFill>
                  <a:srgbClr val="666688"/>
                </a:solidFill>
              </a:rPr>
              <a:t>  Output: Markdown table — issue | line | suggested fix</a:t>
            </a:r>
          </a:p>
          <a:p>
            <a:r>
              <a:rPr sz="1000" b="0">
                <a:solidFill>
                  <a:srgbClr val="666688"/>
                </a:solidFill>
              </a:rPr>
              <a:t/>
            </a:r>
          </a:p>
          <a:p>
            <a:endParaRPr sz="1000" b="0">
              <a:solidFill>
                <a:srgbClr val="666688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3  Run it</a:t>
            </a:r>
          </a:p>
          <a:p>
            <a:r>
              <a:rPr sz="1000" b="0">
                <a:solidFill>
                  <a:srgbClr val="666688"/>
                </a:solidFill>
              </a:rPr>
              <a:t>  @code-review-orchestrator  analyse src/app.py</a:t>
            </a:r>
          </a:p>
          <a:p>
            <a:endParaRPr sz="1000" b="0">
              <a:solidFill>
                <a:srgbClr val="666688"/>
              </a:solidFill>
            </a:endParaRPr>
          </a:p>
          <a:p>
            <a:r>
              <a:rPr sz="1100" b="1">
                <a:solidFill>
                  <a:srgbClr val="0D0D35"/>
                </a:solidFill>
              </a:rPr>
              <a:t>★ Bonus  Add a 3rd agent that creates JIRA tickets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960120"/>
            <a:ext cx="36576" cy="539496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2512" y="960120"/>
            <a:ext cx="5440680" cy="53949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82512" y="960120"/>
            <a:ext cx="5440680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1078992"/>
            <a:ext cx="5138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Task B  —  Agentic RAG on Your Doc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1554480"/>
            <a:ext cx="5138928" cy="45720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200" b="1">
                <a:solidFill>
                  <a:srgbClr val="222244"/>
                </a:solidFill>
              </a:rPr>
              <a:t>Build agentic RAG on your own document in 15 min:</a:t>
            </a:r>
          </a:p>
          <a:p>
            <a:endParaRPr sz="1200" b="1">
              <a:solidFill>
                <a:srgbClr val="222244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1  Convert</a:t>
            </a:r>
          </a:p>
          <a:p>
            <a:r>
              <a:rPr sz="1000" b="0">
                <a:solidFill>
                  <a:srgbClr val="666688"/>
                </a:solidFill>
              </a:rPr>
              <a:t>  python convert.py  myreport.pdf</a:t>
            </a:r>
          </a:p>
          <a:p>
            <a:r>
              <a:rPr sz="1000" b="0">
                <a:solidFill>
                  <a:srgbClr val="222244"/>
                </a:solidFill>
              </a:rPr>
              <a:t>  Inspect the JSON tree output</a:t>
            </a:r>
          </a:p>
          <a:p>
            <a:endParaRPr sz="1000" b="0">
              <a:solidFill>
                <a:srgbClr val="222244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2  Query</a:t>
            </a:r>
          </a:p>
          <a:p>
            <a:r>
              <a:rPr sz="1000" b="0">
                <a:solidFill>
                  <a:srgbClr val="666688"/>
                </a:solidFill>
              </a:rPr>
              <a:t>  python ask.py  myreport.json  "What are the key findings?"</a:t>
            </a:r>
          </a:p>
          <a:p>
            <a:r>
              <a:rPr sz="1000" b="0">
                <a:solidFill>
                  <a:srgbClr val="222244"/>
                </a:solidFill>
              </a:rPr>
              <a:t>  Try 3 different questions — note section-aware answers</a:t>
            </a:r>
          </a:p>
          <a:p>
            <a:r>
              <a:rPr sz="1000" b="0">
                <a:solidFill>
                  <a:srgbClr val="666688"/>
                </a:solidFill>
              </a:rPr>
              <a:t/>
            </a:r>
          </a:p>
          <a:p>
            <a:endParaRPr sz="1000" b="0">
              <a:solidFill>
                <a:srgbClr val="666688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3  Add agent</a:t>
            </a:r>
          </a:p>
          <a:p>
            <a:r>
              <a:rPr sz="1000" b="0">
                <a:solidFill>
                  <a:srgbClr val="666688"/>
                </a:solidFill>
              </a:rPr>
              <a:t>  .github/agents/qa-agent.md  (multi-turn Q&amp;A)</a:t>
            </a:r>
          </a:p>
          <a:p>
            <a:r>
              <a:rPr sz="1000" b="0">
                <a:solidFill>
                  <a:srgbClr val="222244"/>
                </a:solidFill>
              </a:rPr>
              <a:t>  @qa-agent  What changed between Q1 and Q2?</a:t>
            </a:r>
          </a:p>
          <a:p>
            <a:r>
              <a:rPr sz="1000" b="0">
                <a:solidFill>
                  <a:srgbClr val="666688"/>
                </a:solidFill>
              </a:rPr>
              <a:t/>
            </a:r>
          </a:p>
          <a:p>
            <a:endParaRPr sz="1000" b="0">
              <a:solidFill>
                <a:srgbClr val="666688"/>
              </a:solidFill>
            </a:endParaRPr>
          </a:p>
          <a:p>
            <a:r>
              <a:rPr sz="1100" b="1">
                <a:solidFill>
                  <a:srgbClr val="0D0D35"/>
                </a:solidFill>
              </a:rPr>
              <a:t>★ Bonus  Add summarizer-agent for section-by-section digest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0698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Multi-Agent = Orchestrator + Specialists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14904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5819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1 orchestrator, N specialist sub-agents, shared state.
Each agent owns ONE domain. Start with 2, grow as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9601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0248" y="9601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248" y="9601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0698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GitHub Copilot Agents is a real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4904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15819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Zero infra. Markdown-defined. MCP-compatible.
.github/agents runs today inside VS Code — no setup.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9601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0456" y="9601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0456" y="9601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8" y="10698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Choose multi-agent when tasks decompose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5048" y="14904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5048" y="15819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Context limits? Parallel subtasks? Composable tools?
YES to any → multi-agent. Single context fits → single LLM.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033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37033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7033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38130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RAG evolved to remove complexity layers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" y="42336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43251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V1 rich but heavy → V2 lean but keyword-only →
V3 Agentic: zero retrieval code, LLM reads full doc.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0248" y="37033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70248" y="37033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70248" y="37033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34840" y="38130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Agentic RAG best for structured docs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42336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34840" y="43251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JSON tree + LLM reasoning = section-aware answers.
Add .github/agents for multi-turn Q&amp;A sessions.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37033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0456" y="37033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20456" y="37033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85048" y="38130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Both use cases share the same principle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85048" y="42336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85048" y="43251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Agents + tools + clear contracts = composable AI.
GitHub Copilot Agents powers both patterns.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3246120"/>
            <a:ext cx="119877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D0D35"/>
                </a:solidFill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7315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6400"/>
                </a:solidFill>
              </a:rPr>
              <a:t>Questions &amp; Discussion Welcome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42032"/>
            <a:ext cx="5029200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70662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Raviteja Thota  |  Senior Software Engineer  |  EPAM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0380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66688"/>
                </a:solidFill>
              </a:rPr>
              <a:t>EngX</a:t>
            </a:r>
            <a:r>
              <a:rPr sz="1100" b="0" i="0" dirty="0">
                <a:solidFill>
                  <a:srgbClr val="666688"/>
                </a:solidFill>
              </a:rPr>
              <a:t> AI Coach — Final Exam  | 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11880"/>
            <a:ext cx="5212080" cy="141732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611880"/>
            <a:ext cx="521208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3694176"/>
            <a:ext cx="4919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Use Case 1  —  Multi-Agentic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078224"/>
            <a:ext cx="49194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Orchestrator + 5 agents  ·  Java toggle analysis
.github/agents  ·  Confluence MCP  ·  MPGS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166360"/>
            <a:ext cx="5212080" cy="1417320"/>
          </a:xfrm>
          <a:prstGeom prst="rect">
            <a:avLst/>
          </a:prstGeom>
          <a:solidFill>
            <a:srgbClr val="E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166360"/>
            <a:ext cx="5212080" cy="457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248656"/>
            <a:ext cx="4919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Use Case 2  —  RAG Evolution Journey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32704"/>
            <a:ext cx="49194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Vector RAG  ›  Vector-less  ›  Agentic RAG
LLM as retriever  ·  3 Python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60196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OrgEngXSoftwareDevelopersCoach@epam.com  |  EPAM Proprietary &amp; Confidential.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f2f77bf-ac71-4d31-be38-cc6a5f811e56}" enabled="1" method="Privileged" siteId="{f06fa858-824b-4a85-aacb-f372cfdc282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3130</Words>
  <Application>Microsoft Office PowerPoint</Application>
  <PresentationFormat>Custom</PresentationFormat>
  <Paragraphs>458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Raviteja Thota [C]</cp:lastModifiedBy>
  <cp:revision>8</cp:revision>
  <dcterms:created xsi:type="dcterms:W3CDTF">2013-01-27T09:14:16Z</dcterms:created>
  <dcterms:modified xsi:type="dcterms:W3CDTF">2026-05-02T07:44:01Z</dcterms:modified>
  <cp:category/>
</cp:coreProperties>
</file>