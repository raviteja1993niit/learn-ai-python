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to Develop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6400"/>
                </a:solidFill>
              </a:rPr>
              <a:t>Multi-Agentic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703320"/>
            <a:ext cx="5486400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886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Raviteja Thota  |  Senior Software Engineer  |  EPAM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159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EngX AI Coach — Final Exam Presentation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17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6400"/>
                </a:solidFill>
              </a:rPr>
              <a:t>01   About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7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02   Topic Introduction — What is a Multi-Agent System?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03   AI Trend: The RAG Evolution  (Vector  ›  Vector-less  ›  Agentic)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3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04   Theory — Orchestrator, Agents, Tools &amp;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1985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05   Framework Landscape  (LangChain / LangGraph / ADK / GitHub Copilot Agents)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050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06   Real Use Case — Agentic Toggle Management System  (Live Code)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07   Code Demo — Agentic RAG App  (vector-less-rag-agentic)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7550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08   Practical Task for You  (15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07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09   Key Takeaways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About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5577840" cy="5349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FA6400"/>
                </a:solidFill>
              </a:rPr>
              <a:t>Raviteja Thota</a:t>
            </a:r>
          </a:p>
          <a:p>
            <a:r>
              <a:rPr sz="1300" b="0">
                <a:solidFill>
                  <a:srgbClr val="FFFFFF"/>
                </a:solidFill>
              </a:rPr>
              <a:t>Senior Software Engineer  @  EPAM</a:t>
            </a:r>
          </a:p>
          <a:p>
            <a:r>
              <a:rPr sz="1200" b="0">
                <a:solidFill>
                  <a:srgbClr val="CCCCCC"/>
                </a:solidFill>
              </a:rPr>
              <a:t>Hyderabad, India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300" b="1">
                <a:solidFill>
                  <a:srgbClr val="FA6400"/>
                </a:solidFill>
              </a:rPr>
              <a:t>Skills:</a:t>
            </a:r>
          </a:p>
          <a:p>
            <a:r>
              <a:rPr sz="1200" b="0">
                <a:solidFill>
                  <a:srgbClr val="FFFFFF"/>
                </a:solidFill>
              </a:rPr>
              <a:t>Angular  ·  Java / Spring Boot  ·  AWS  ·  Microservices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300" b="1">
                <a:solidFill>
                  <a:srgbClr val="FA6400"/>
                </a:solidFill>
              </a:rPr>
              <a:t>Certifications:</a:t>
            </a:r>
          </a:p>
          <a:p>
            <a:r>
              <a:rPr sz="1200" b="0">
                <a:solidFill>
                  <a:srgbClr val="FFFFFF"/>
                </a:solidFill>
              </a:rPr>
              <a:t>  Claude Certified Architect – Foundations  (Anthropic)</a:t>
            </a:r>
          </a:p>
          <a:p>
            <a:r>
              <a:rPr sz="1200" b="0">
                <a:solidFill>
                  <a:srgbClr val="FFFFFF"/>
                </a:solidFill>
              </a:rPr>
              <a:t>  Microsoft AZ-400 DevOps Engineer Expert</a:t>
            </a:r>
          </a:p>
          <a:p>
            <a:r>
              <a:rPr sz="1200" b="0">
                <a:solidFill>
                  <a:srgbClr val="FFFFFF"/>
                </a:solidFill>
              </a:rPr>
              <a:t>  AWS Certified Developer – Associate</a:t>
            </a:r>
          </a:p>
          <a:p>
            <a:r>
              <a:rPr sz="1200" b="0">
                <a:solidFill>
                  <a:srgbClr val="FFFFFF"/>
                </a:solidFill>
              </a:rPr>
              <a:t>  Google Professional Cloud Developer</a:t>
            </a:r>
          </a:p>
          <a:p>
            <a:r>
              <a:rPr sz="1200" b="0">
                <a:solidFill>
                  <a:srgbClr val="FFFFFF"/>
                </a:solidFill>
              </a:rPr>
              <a:t>  Oracle OCI Generative AI Professional</a:t>
            </a:r>
          </a:p>
          <a:p>
            <a:r>
              <a:rPr sz="1200" b="0">
                <a:solidFill>
                  <a:srgbClr val="FFFFFF"/>
                </a:solidFill>
              </a:rPr>
              <a:t>  AWS AI Practitioner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A6400"/>
                </a:solidFill>
              </a:rPr>
              <a:t>India Innovation Enabler  (Feb 2026)</a:t>
            </a:r>
          </a:p>
          <a:p>
            <a:r>
              <a:rPr sz="1100" b="0">
                <a:solidFill>
                  <a:srgbClr val="FFFFFF"/>
                </a:solidFill>
              </a:rPr>
              <a:t>  MPGS AI Run Adoption — Smart Mapper,</a:t>
            </a:r>
          </a:p>
          <a:p>
            <a:r>
              <a:rPr sz="1100" b="0">
                <a:solidFill>
                  <a:srgbClr val="CCCCCC"/>
                </a:solidFill>
              </a:rPr>
              <a:t>  ATF to Flow Framework featured at LEAP (global)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51560"/>
            <a:ext cx="36576" cy="534924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440680" cy="5349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1">
                <a:solidFill>
                  <a:srgbClr val="FA6400"/>
                </a:solidFill>
              </a:rPr>
              <a:t>Apps Built for This Exam: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agentic-ai-toggle-management</a:t>
            </a:r>
          </a:p>
          <a:p>
            <a:r>
              <a:rPr sz="1100" b="0">
                <a:solidFill>
                  <a:srgbClr val="CCCCCC"/>
                </a:solidFill>
              </a:rPr>
              <a:t>  Orchestrator + 5 agents, Confluence MCP,</a:t>
            </a:r>
          </a:p>
          <a:p>
            <a:r>
              <a:rPr sz="1100" b="0">
                <a:solidFill>
                  <a:srgbClr val="CCCCCC"/>
                </a:solidFill>
              </a:rPr>
              <a:t>  Java toggle analysis + code refactoring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vector-rag-app-v1</a:t>
            </a:r>
          </a:p>
          <a:p>
            <a:r>
              <a:rPr sz="1100" b="0">
                <a:solidFill>
                  <a:srgbClr val="CCCCCC"/>
                </a:solidFill>
              </a:rPr>
              <a:t>  ChromaDB + sentence-transformers + BM25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vector-less-rag-app-v2</a:t>
            </a:r>
          </a:p>
          <a:p>
            <a:r>
              <a:rPr sz="1100" b="0">
                <a:solidFill>
                  <a:srgbClr val="CCCCCC"/>
                </a:solidFill>
              </a:rPr>
              <a:t>  BM25 + FastAPI, no vector DB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vector-less-rag-app</a:t>
            </a:r>
          </a:p>
          <a:p>
            <a:r>
              <a:rPr sz="1100" b="0">
                <a:solidFill>
                  <a:srgbClr val="CCCCCC"/>
                </a:solidFill>
              </a:rPr>
              <a:t>  BM25 + Streamlit, multi-query search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vector-less-rag-agentic</a:t>
            </a:r>
          </a:p>
          <a:p>
            <a:r>
              <a:rPr sz="1100" b="0">
                <a:solidFill>
                  <a:srgbClr val="CCCCCC"/>
                </a:solidFill>
              </a:rPr>
              <a:t>  LLM as retriever + .github/agents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FFFFFF"/>
                </a:solidFill>
              </a:rPr>
              <a:t>transcript-notes-generator</a:t>
            </a:r>
          </a:p>
          <a:p>
            <a:r>
              <a:rPr sz="1100" b="0">
                <a:solidFill>
                  <a:srgbClr val="CCCCCC"/>
                </a:solidFill>
              </a:rPr>
              <a:t>  faster-whisper + Copilot LLM +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a Multi-Agent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11521440" cy="5349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FA6400"/>
                </a:solidFill>
              </a:rPr>
              <a:t>A system where multiple AI agents collaborate to solve complex tasks.</a:t>
            </a:r>
          </a:p>
          <a:p>
            <a:r>
              <a:rPr sz="1300" b="0">
                <a:solidFill>
                  <a:srgbClr val="FFFFFF"/>
                </a:solidFill>
              </a:rPr>
              <a:t>Each agent has a specific role, toolset, and output contract.</a:t>
            </a:r>
          </a:p>
          <a:p>
            <a:r>
              <a:rPr sz="1300" b="0">
                <a:solidFill>
                  <a:srgbClr val="FFFFFF"/>
                </a:solidFill>
              </a:rPr>
              <a:t>An Orchestrator routes work.  Sub-agents execute specialised tasks.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300" b="1">
                <a:solidFill>
                  <a:srgbClr val="FA6400"/>
                </a:solidFill>
              </a:rPr>
              <a:t>Key Principles:</a:t>
            </a:r>
          </a:p>
          <a:p>
            <a:r>
              <a:rPr sz="1300" b="0">
                <a:solidFill>
                  <a:srgbClr val="FFFFFF"/>
                </a:solidFill>
              </a:rPr>
              <a:t>  Separation of Concerns  —  each agent does ONE thing well</a:t>
            </a:r>
          </a:p>
          <a:p>
            <a:r>
              <a:rPr sz="1300" b="0">
                <a:solidFill>
                  <a:srgbClr val="FFFFFF"/>
                </a:solidFill>
              </a:rPr>
              <a:t>  Composability           —  agents can be added or swapped independently</a:t>
            </a:r>
          </a:p>
          <a:p>
            <a:r>
              <a:rPr sz="1300" b="0">
                <a:solidFill>
                  <a:srgbClr val="FFFFFF"/>
                </a:solidFill>
              </a:rPr>
              <a:t>  Transparency            —  every delegation step is logged and traceable</a:t>
            </a:r>
          </a:p>
          <a:p>
            <a:r>
              <a:rPr sz="1300" b="0">
                <a:solidFill>
                  <a:srgbClr val="FFFFFF"/>
                </a:solidFill>
              </a:rPr>
              <a:t>  Guardrails              —  orchestrator enforces what each agent CANNOT do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300" b="1">
                <a:solidFill>
                  <a:srgbClr val="FA6400"/>
                </a:solidFill>
              </a:rPr>
              <a:t>Why not just use a single LLM?</a:t>
            </a:r>
          </a:p>
          <a:p>
            <a:r>
              <a:rPr sz="1300" b="0">
                <a:solidFill>
                  <a:srgbClr val="EF5350"/>
                </a:solidFill>
              </a:rPr>
              <a:t>  Context window limits  —  one LLM cannot see 16,000+ files at once</a:t>
            </a:r>
          </a:p>
          <a:p>
            <a:r>
              <a:rPr sz="1300" b="0">
                <a:solidFill>
                  <a:srgbClr val="EF5350"/>
                </a:solidFill>
              </a:rPr>
              <a:t>  No specialisation       —  a generalist LLM is worse than a focused agent</a:t>
            </a:r>
          </a:p>
          <a:p>
            <a:r>
              <a:rPr sz="1300" b="0">
                <a:solidFill>
                  <a:srgbClr val="EF5350"/>
                </a:solidFill>
              </a:rPr>
              <a:t>  Hard to maintain        —  monolithic prompts break as complexity grows</a:t>
            </a:r>
          </a:p>
          <a:p>
            <a:r>
              <a:rPr sz="500" b="0">
                <a:solidFill>
                  <a:srgbClr val="FFFFFF"/>
                </a:solidFill>
              </a:rPr>
              <a:t/>
            </a:r>
          </a:p>
          <a:p>
            <a:r>
              <a:rPr sz="1200" b="1">
                <a:solidFill>
                  <a:srgbClr val="4CAF50"/>
                </a:solidFill>
              </a:rPr>
              <a:t>Target audience today:  Developers using GenAI for 3 months, ready for the next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Trend: The RAG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6400"/>
                </a:solidFill>
              </a:rPr>
              <a:t>Your 3 apps tell the story  —  from complex infra to zero-code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3520440" cy="48920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70432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6400"/>
                </a:solidFill>
              </a:rPr>
              <a:t>V1 — Vector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45920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vector-rag-app-v1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920240"/>
            <a:ext cx="3300984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01168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  ChromaDB embeddings</a:t>
            </a:r>
          </a:p>
          <a:p>
            <a:r>
              <a:rPr sz="1200" b="0">
                <a:solidFill>
                  <a:srgbClr val="FFFFFF"/>
                </a:solidFill>
              </a:rPr>
              <a:t>  sentence-transformers</a:t>
            </a:r>
          </a:p>
          <a:p>
            <a:r>
              <a:rPr sz="1200" b="0">
                <a:solidFill>
                  <a:srgbClr val="FFFFFF"/>
                </a:solidFill>
              </a:rPr>
              <a:t>  BM25 hybrid search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100" b="0">
                <a:solidFill>
                  <a:srgbClr val="4CAF50"/>
                </a:solidFill>
              </a:rPr>
              <a:t>+ Good semantic recall</a:t>
            </a:r>
          </a:p>
          <a:p>
            <a:r>
              <a:rPr sz="1100" b="0">
                <a:solidFill>
                  <a:srgbClr val="EF5350"/>
                </a:solidFill>
              </a:rPr>
              <a:t>- Embedding setup cost</a:t>
            </a:r>
          </a:p>
          <a:p>
            <a:r>
              <a:rPr sz="1100" b="0">
                <a:solidFill>
                  <a:srgbClr val="EF5350"/>
                </a:solidFill>
              </a:rPr>
              <a:t>- Vector DB infra needed</a:t>
            </a:r>
          </a:p>
          <a:p>
            <a:r>
              <a:rPr sz="1100" b="0">
                <a:solidFill>
                  <a:srgbClr val="EF5350"/>
                </a:solidFill>
              </a:rPr>
              <a:t>- Complex codebase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078992"/>
            <a:ext cx="3520440" cy="48920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170432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6400"/>
                </a:solidFill>
              </a:rPr>
              <a:t>V2 — Vector-less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645920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vector-less-rag-app-v2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3984" y="1920240"/>
            <a:ext cx="3300984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201168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  BM25 keyword search</a:t>
            </a:r>
          </a:p>
          <a:p>
            <a:r>
              <a:rPr sz="1200" b="0">
                <a:solidFill>
                  <a:srgbClr val="FFFFFF"/>
                </a:solidFill>
              </a:rPr>
              <a:t>  No embeddings</a:t>
            </a:r>
          </a:p>
          <a:p>
            <a:r>
              <a:rPr sz="1200" b="0">
                <a:solidFill>
                  <a:srgbClr val="FFFFFF"/>
                </a:solidFill>
              </a:rPr>
              <a:t>  Multi-query retrieval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100" b="0">
                <a:solidFill>
                  <a:srgbClr val="4CAF50"/>
                </a:solidFill>
              </a:rPr>
              <a:t>+ Zero infra, free</a:t>
            </a:r>
          </a:p>
          <a:p>
            <a:r>
              <a:rPr sz="1100" b="0">
                <a:solidFill>
                  <a:srgbClr val="4CAF50"/>
                </a:solidFill>
              </a:rPr>
              <a:t>+ Fast startup</a:t>
            </a:r>
          </a:p>
          <a:p>
            <a:r>
              <a:rPr sz="1100" b="0">
                <a:solidFill>
                  <a:srgbClr val="EF5350"/>
                </a:solidFill>
              </a:rPr>
              <a:t>- Misses semantic matches</a:t>
            </a:r>
          </a:p>
          <a:p>
            <a:r>
              <a:rPr sz="1100" b="0">
                <a:solidFill>
                  <a:srgbClr val="EF5350"/>
                </a:solidFill>
              </a:rPr>
              <a:t>- Still needs retriever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48472" y="1078992"/>
            <a:ext cx="3520440" cy="48920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170432"/>
            <a:ext cx="3300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6400"/>
                </a:solidFill>
              </a:rPr>
              <a:t>V3 — Agentic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645920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vector-less-rag-agentic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920240"/>
            <a:ext cx="3300984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01168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  LLM IS the retriever</a:t>
            </a:r>
          </a:p>
          <a:p>
            <a:r>
              <a:rPr sz="1200" b="0">
                <a:solidFill>
                  <a:srgbClr val="FFFFFF"/>
                </a:solidFill>
              </a:rPr>
              <a:t>  Full JSON doc as context</a:t>
            </a:r>
          </a:p>
          <a:p>
            <a:r>
              <a:rPr sz="1200" b="0">
                <a:solidFill>
                  <a:srgbClr val="FFFFFF"/>
                </a:solidFill>
              </a:rPr>
              <a:t>  .github/agents for Q&amp;A</a:t>
            </a:r>
          </a:p>
          <a:p>
            <a:r>
              <a:rPr sz="400" b="0">
                <a:solidFill>
                  <a:srgbClr val="FFFFFF"/>
                </a:solidFill>
              </a:rPr>
              <a:t/>
            </a:r>
          </a:p>
          <a:p>
            <a:r>
              <a:rPr sz="1100" b="0">
                <a:solidFill>
                  <a:srgbClr val="4CAF50"/>
                </a:solidFill>
              </a:rPr>
              <a:t>+ No retrieval code at all</a:t>
            </a:r>
          </a:p>
          <a:p>
            <a:r>
              <a:rPr sz="1100" b="0">
                <a:solidFill>
                  <a:srgbClr val="4CAF50"/>
                </a:solidFill>
              </a:rPr>
              <a:t>+ Structure-aware answers</a:t>
            </a:r>
          </a:p>
          <a:p>
            <a:r>
              <a:rPr sz="1100" b="0">
                <a:solidFill>
                  <a:srgbClr val="4CAF50"/>
                </a:solidFill>
              </a:rPr>
              <a:t>+ Only 3 Python files</a:t>
            </a:r>
          </a:p>
          <a:p>
            <a:r>
              <a:rPr sz="1100" b="0">
                <a:solidFill>
                  <a:srgbClr val="EF5350"/>
                </a:solidFill>
              </a:rPr>
              <a:t>- Token limit on huge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A6400"/>
                </a:solidFill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246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A6400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Theory: Building Blocks of a Multi-Agent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2103120" cy="5120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7043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Orchestrator (Router)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581912"/>
            <a:ext cx="1920239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64208"/>
            <a:ext cx="1920239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The brain. Receives user input, decides which sub-agent handles it. NEVER does leaf work — only routes, coordinates, and enforces guardrails.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078992"/>
            <a:ext cx="2103120" cy="5120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17043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Sub-Agents (Specialists)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81912"/>
            <a:ext cx="1920239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664208"/>
            <a:ext cx="1920239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Each has one focused role: analyse, report, fetch data, advise, or manage state. Has its own tools, SKILL.md definitions, and a clear output contract.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1078992"/>
            <a:ext cx="2103120" cy="5120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19" y="117043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19" y="1581912"/>
            <a:ext cx="1920239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19" y="1664208"/>
            <a:ext cx="1920239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Functions agents can call: read_file, grep_search, run_in_terminal, mcp-confluence/getPage, insert_edit_into_file, run_subagent,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1078992"/>
            <a:ext cx="2103120" cy="5120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17043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Shared State / 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581912"/>
            <a:ext cx="1920239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664208"/>
            <a:ext cx="1920239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Persistent storage across agent turns: CSV registries, JSON files, session workspace. Enables resumable, long-running workflows.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1078992"/>
            <a:ext cx="2103120" cy="5120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59" y="1170432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Skills  (SKILL.md)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59" y="1581912"/>
            <a:ext cx="1920239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59" y="1664208"/>
            <a:ext cx="1920239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Reusable, documented capabilities inside an agent. Step-by-step instructions. e.g. java-source-search/SKILL.md  |  decomposition-planner/SKILL.md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Framework Landscape: Which Multi-Agent Framework to Use?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3657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0972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09728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097280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11521440" cy="493776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2704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527048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52704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Rich ecosystem, chains,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527048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11680"/>
            <a:ext cx="11521440" cy="493776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5740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057400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5740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Graph workflows, cycles, checkpoints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057400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42032"/>
            <a:ext cx="11521440" cy="493776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587752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Google ADK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587752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587752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Google-native, Gemini, MCP built-in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587752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 (plan future)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72384"/>
            <a:ext cx="11521440" cy="493776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118103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118103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118103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Role-based, easy YAML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118103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602736"/>
            <a:ext cx="11521440" cy="493776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648456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648456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648456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Microsoft, conversation-driven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648456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33087"/>
            <a:ext cx="11521440" cy="493776"/>
          </a:xfrm>
          <a:prstGeom prst="rect">
            <a:avLst/>
          </a:prstGeom>
          <a:solidFill>
            <a:srgbClr val="1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178807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GH Copilot
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178807"/>
            <a:ext cx="1920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Markdown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178807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.github/agents, native IDE, MCP-ready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178807"/>
            <a:ext cx="3703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YES — all 6 apps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73952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GitHub Copilot Agents = zero extra infra, Markdown-defined, MCP-compatible, runs today in VS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Real Use Case: Agentic Toggle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6400"/>
                </a:solidFill>
              </a:rPr>
              <a:t>MPGS Payment Gateway — Mastercard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1521440" cy="169164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6400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FFFFF"/>
                </a:solidFill>
              </a:rPr>
              <a:t>100+ feature toggles across 7 Java repositories (~16,000 files total).</a:t>
            </a:r>
          </a:p>
          <a:p>
            <a:r>
              <a:rPr sz="1200" b="0">
                <a:solidFill>
                  <a:srgbClr val="FFFFFF"/>
                </a:solidFill>
              </a:rPr>
              <a:t>"What breaks if toggle X is ON vs OFF?" — nobody knew without reading Java for days.</a:t>
            </a:r>
          </a:p>
          <a:p>
            <a:r>
              <a:rPr sz="1200" b="0">
                <a:solidFill>
                  <a:srgbClr val="CCCCCC"/>
                </a:solidFill>
              </a:rPr>
              <a:t>Confluence docs were stale. Manual analysis was error-prone and took days per toggle.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803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6400"/>
                </a:solidFill>
              </a:rPr>
              <a:t>The Solution: 1 Orchestrator + 5 Sub-Agents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91840"/>
            <a:ext cx="2103120" cy="269748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291840"/>
            <a:ext cx="2103120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364992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2E"/>
                </a:solidFill>
              </a:rPr>
              <a:t>toggle-
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4005072"/>
            <a:ext cx="1956815" cy="18288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4069080"/>
            <a:ext cx="19568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0D0D2E"/>
                </a:solidFill>
              </a:rPr>
              <a:t>Routes commands</a:t>
            </a:r>
          </a:p>
          <a:p>
            <a:r>
              <a:rPr sz="1100" b="0">
                <a:solidFill>
                  <a:srgbClr val="0D0D2E"/>
                </a:solidFill>
              </a:rPr>
              <a:t>Guards scope</a:t>
            </a:r>
          </a:p>
          <a:p>
            <a:r>
              <a:rPr sz="1100" b="0">
                <a:solidFill>
                  <a:srgbClr val="0D0D2E"/>
                </a:solidFill>
              </a:rPr>
              <a:t>Answers inline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291840"/>
            <a:ext cx="2103120" cy="269748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3291840"/>
            <a:ext cx="2103120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3364992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toggle-analysis-
engine  [SA-1]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24912" y="4005072"/>
            <a:ext cx="195681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24912" y="4069080"/>
            <a:ext cx="19568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Java source scan</a:t>
            </a:r>
          </a:p>
          <a:p>
            <a:r>
              <a:rPr sz="1100" b="0">
                <a:solidFill>
                  <a:srgbClr val="FFFFFF"/>
                </a:solidFill>
              </a:rPr>
              <a:t>ON/OFF impact</a:t>
            </a:r>
          </a:p>
          <a:p>
            <a:r>
              <a:rPr sz="1100" b="0">
                <a:solidFill>
                  <a:srgbClr val="FFFFFF"/>
                </a:solidFill>
              </a:rPr>
              <a:t>S2A enrichment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79" y="3291840"/>
            <a:ext cx="2103120" cy="269748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79" y="3291840"/>
            <a:ext cx="2103120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3364992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toggle-report-
writer  [SA-2]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6631" y="4005072"/>
            <a:ext cx="195681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4069080"/>
            <a:ext cx="19568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6 report types</a:t>
            </a:r>
          </a:p>
          <a:p>
            <a:r>
              <a:rPr sz="1100" b="0">
                <a:solidFill>
                  <a:srgbClr val="FFFFFF"/>
                </a:solidFill>
              </a:rPr>
              <a:t>Markdown output</a:t>
            </a:r>
          </a:p>
          <a:p>
            <a:r>
              <a:rPr sz="1100" b="0">
                <a:solidFill>
                  <a:srgbClr val="FFFFFF"/>
                </a:solidFill>
              </a:rPr>
              <a:t>Coverage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199" y="3291840"/>
            <a:ext cx="2103120" cy="269748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199" y="3291840"/>
            <a:ext cx="2103120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1" y="3364992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toggle-confluence-
enquiry  [SA-3]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1" y="4005072"/>
            <a:ext cx="195681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1" y="4069080"/>
            <a:ext cx="19568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4-tier MCP search</a:t>
            </a:r>
          </a:p>
          <a:p>
            <a:r>
              <a:rPr sz="1100" b="0">
                <a:solidFill>
                  <a:srgbClr val="FFFFFF"/>
                </a:solidFill>
              </a:rPr>
              <a:t>Page metadata</a:t>
            </a:r>
          </a:p>
          <a:p>
            <a:r>
              <a:rPr sz="1100" b="0">
                <a:solidFill>
                  <a:srgbClr val="FFFFFF"/>
                </a:solidFill>
              </a:rPr>
              <a:t>Batch fetch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19" y="3291840"/>
            <a:ext cx="2103120" cy="269748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6919" y="3291840"/>
            <a:ext cx="2103120" cy="27432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0072" y="3364992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toggle-advisor
[SA-4]  on-req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4005072"/>
            <a:ext cx="195681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069080"/>
            <a:ext cx="1956815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Decomp planning</a:t>
            </a:r>
          </a:p>
          <a:p>
            <a:r>
              <a:rPr sz="1100" b="0">
                <a:solidFill>
                  <a:srgbClr val="FFFFFF"/>
                </a:solidFill>
              </a:rPr>
              <a:t>Java refactor</a:t>
            </a:r>
          </a:p>
          <a:p>
            <a:r>
              <a:rPr sz="1100" b="0">
                <a:solidFill>
                  <a:srgbClr val="FFFFFF"/>
                </a:solidFill>
              </a:rPr>
              <a:t>Toggle removal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0807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Result: Full toggle impact analysis for all 100+ toggles in minutes, not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Architecture: Orchestrator + 5 Sub-Agents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5349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USER COMMAND  (plain English or /slash-command)
       |
       v
+--------------------------------+
|      TOGGLE-ORCHESTRATOR       |  &lt;-- Session entry point
|  Routes  *  Answers  *  Guards |      NEVER does leaf work
+-----+--------+--------+--------+
      |        |        |        |
      v        v        v        v
  [SA-1]    [SA-2]   [SA-3]   [SA-5]
  ANALYSIS  REPORT   CONFLU-  WORKSPACE
  ENGINE    WRITER   ENCE     MANAGER
                     ENQUIRY
  Java scan  6 types  4-tier   Session
  ON/OFF     Markdown MCP      state &amp;
  impact     output   search   registry
                    [SA-4] ADVISOR  (* on-request only)
                     Decomp planning
                     Java code refactor / toggle removal
Tools available per agent:
  read_file  |  grep_search  |  run_subagent  |  insert_edit_into_file
  mcp-confluence/getPage  |  run_in_terminal  |  validate_cves  |  ...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Code: Defining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6400"/>
                </a:solidFill>
              </a:rPr>
              <a:t>.github/agents/toggle-orchestrator.agent.md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1521440" cy="5349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1556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---
name: toggle-orchestrator
description: Session entry point and router for the toggle management system.
tools:
  - read_file
  - run_subagent          # delegates to sub-agents
  - grep_search
  - mcp-confluence/getPage
  - insert_edit_into_file
---
# Toggle Orchestrator
## Routing Strategy
### Tier 1 — Handle Inline  (no sub-agent needed)
| Request                    | Action                                      |
|----------------------------|---------------------------------------------|
| Single toggle data query   | Read CSV, reply as Markdown                 |
| Analysis status check      | Count registry rows, answer inline          |
| Toggle already analysed    | Display from analysis CSV directly          |
### Tier 2 — Delegate to Sub-Agent
| User Command                         | Sub-Agent                      |
|--------------------------------------|--------------------------------|
| analyze toggle &lt;name&gt;                | toggle-analysis-engine  (SA-1) |
| generate report                      | toggle-report-writer    (SA-2) |
| fetch confluence data for &lt;name&gt;     | toggle-confluence-enquiry SA-3 |
| plan toggle decomposition for &lt;repo&gt; | toggle-advisor          (SA-4) |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Code Demo: Agentic RAG — The LLM IS the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6400"/>
                </a:solidFill>
              </a:rPr>
              <a:t>vector-less-rag-agentic / ask.py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1521440" cy="5349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11556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# ask.py  —  The LLM reads the full document and retrieves relevant info
# No BM25.  No embeddings.  No vector DB.  3 Python files total.
def ask(json_path: str, question: str, model: str = "gpt-4o-mini") -&gt; str:
    doc     = json.loads(Path(json_path).read_text(encoding="utf-8"))
    context = build_context(doc)   # full JSON  --&gt;  readable Markdown sections
    client = openai.OpenAI(
        base_url = "https://models.inference.ai.azure.com",
        api_key  = get_token_or_raise(),   # reads from  gh auth token  automatically
    )
    response = client.chat.completions.create(
        model    = model,
        messages = [
            {"role": "system", "content": SYSTEM_PROMPT},
            {"role": "user",   "content": f"{context}\n\n{question}"},
        ],
        temperature = 0.2,
        max_tokens  = 1024,
    )
    return response.choices[0].message.content
# ── .github/agents/qa-agent.md  orchestrates multi-turn Q&amp;A sessions ─────────
#
#  Role:   Question-answering specialist
#  Tools:  read_file  (loads the JSON)  +  calls ask.py
#  Flow:   user question  --&gt;  qa-agent  --&gt;  ask.py  --&gt;  LLM  --&gt;  answer
#
# ─────────────────────────────────────────────────────────────────────────────
# Traditional RAG:  embed  -&gt;  store in ChromaDB  -&gt;  BM25 retrieval  -&gt;  LLM
# Agentic RAG:      convert doc to JSON  -&gt;  send full JSON  -&gt;  LLM retrieves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Decision Guide: Single LLM  vs  Multi-Agent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3657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4434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97280"/>
            <a:ext cx="4069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Single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097280"/>
            <a:ext cx="3154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81328"/>
            <a:ext cx="11521440" cy="53035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36192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Simple Q&amp;A,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36192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53619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overkill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48256"/>
            <a:ext cx="11521440" cy="530352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0312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Document summarisation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03120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103120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6400"/>
                </a:solidFill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15184"/>
            <a:ext cx="11521440" cy="53035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70048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Code analysis — 1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67004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7004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overkill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82112"/>
            <a:ext cx="11521440" cy="530352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23697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Cross-repo scan (1000s of files)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36976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ctx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236976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6400"/>
                </a:solidFill>
              </a:rPr>
              <a:t>YES — delegate per repo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11521440" cy="53035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03903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Parallel specialised subtasks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803903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sequential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803903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6400"/>
                </a:solidFill>
              </a:rPr>
              <a:t>YES — parallel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15968"/>
            <a:ext cx="11521440" cy="530352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70832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Long-running, resumable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370832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timeout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370832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6400"/>
                </a:solidFill>
              </a:rPr>
              <a:t>YES — state persists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82896"/>
            <a:ext cx="11521440" cy="53035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37759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Composable MCP / tool sets per 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937759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No — one toolset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937759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6400"/>
                </a:solidFill>
              </a:rPr>
              <a:t>YES — each agent own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108192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6400"/>
                </a:solidFill>
              </a:rPr>
              <a:t>Rule of thumb:  Can your task decompose into specialists with clear outputs?  YES -&gt; Multi-agent.  NO -&gt; Single LLM.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Practical Task  —  Build Your Own Agent  (15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6400"/>
                </a:solidFill>
              </a:rPr>
              <a:t>Task: Create a 2-agent system that reviews a Python file for code smells.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1521440" cy="135331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67335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Create  .github/agents/code-review-orchestrator.agent.md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75688"/>
            <a:ext cx="10149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Role: Accept a file path from the user. Delegate to code-analyser. Return a summary report.
Tools: run_subagent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63240"/>
            <a:ext cx="11521440" cy="135331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136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1363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Create  .github/agents/code-analyser.agent.md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538728"/>
            <a:ext cx="10149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Role: Read the file. Find: functions &gt; 30 lines, no error handling, magic numbers.
Tools: read_file, grep_search
Output: Markdown table — issue | line | severity | suggestion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26280"/>
            <a:ext cx="11521440" cy="1353312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599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994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in GitHub Copilot Chat (Agent Mode)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001768"/>
            <a:ext cx="10149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@code-review-orchestrator  analyse src/app.py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035040"/>
            <a:ext cx="11521440" cy="411480"/>
          </a:xfrm>
          <a:prstGeom prst="rect">
            <a:avLst/>
          </a:prstGeom>
          <a:solidFill>
            <a:srgbClr val="0A2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Bonus: Add a 3rd agent that generates a JIRA-style ticket for each issue found.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19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RAG has evolved — Vector  &gt;  Vector-less  &gt;  Agentic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19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Each generation is simpler to build and more powerful to use. Start Agentic.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7899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9048" y="107899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188719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Multi-Agent = Orchestrator + Specialists + Tools + Shared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1645919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73736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Not a buzzword — a structured way to organise multiple focused LLM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78056" y="107899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78056" y="107899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0936" y="1188719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GitHub Copilot Agents is a real, production multi-agent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60936" y="1645919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60936" y="173736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Zero infra. Markdown-defined. MCP-compatible. Runs today inside VS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8503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8503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Start with the problem — then choose the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4340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ADK / LangGraph / CrewAI are all valid. Pick what fits your stack and team.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8" y="368503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368503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794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Agents need clear roles, contracts, and guardrails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4251960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34340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Define what each agent CAN and CANNOT do. Test each agent in isolation.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78056" y="3685032"/>
            <a:ext cx="5349240" cy="2423160"/>
          </a:xfrm>
          <a:prstGeom prst="rect">
            <a:avLst/>
          </a:prstGeom>
          <a:solidFill>
            <a:srgbClr val="18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78056" y="3685032"/>
            <a:ext cx="54864" cy="242316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60936" y="3794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6400"/>
                </a:solidFill>
              </a:rPr>
              <a:t>You already have the skills — start building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60936" y="4251960"/>
            <a:ext cx="5074920" cy="27432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60936" y="4343400"/>
            <a:ext cx="507492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A 2-agent system today. Scale up as your problem complexity grows.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3246120"/>
            <a:ext cx="12024360" cy="45720"/>
          </a:xfrm>
          <a:prstGeom prst="rect">
            <a:avLst/>
          </a:prstGeom>
          <a:solidFill>
            <a:srgbClr val="FA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6400"/>
                </a:solidFill>
              </a:rPr>
              <a:t>Questions &amp; Discussion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Raviteja Thota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587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Senior Software Engineer  |  EPAM  |  Hyderabad,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Exam topic: How to Develop Your Own Multi-Agentic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36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A6400"/>
                </a:solidFill>
              </a:rPr>
              <a:t>OrgEngXSoftwareDevelopersCoach@epam.com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EPAM Proprietary &amp;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